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1" r:id="rId1"/>
  </p:sldMasterIdLst>
  <p:notesMasterIdLst>
    <p:notesMasterId r:id="rId21"/>
  </p:notesMasterIdLst>
  <p:sldIdLst>
    <p:sldId id="256" r:id="rId2"/>
    <p:sldId id="272" r:id="rId3"/>
    <p:sldId id="257" r:id="rId4"/>
    <p:sldId id="258" r:id="rId5"/>
    <p:sldId id="273" r:id="rId6"/>
    <p:sldId id="274" r:id="rId7"/>
    <p:sldId id="259" r:id="rId8"/>
    <p:sldId id="269" r:id="rId9"/>
    <p:sldId id="271" r:id="rId10"/>
    <p:sldId id="267" r:id="rId11"/>
    <p:sldId id="263" r:id="rId12"/>
    <p:sldId id="264" r:id="rId13"/>
    <p:sldId id="265" r:id="rId14"/>
    <p:sldId id="266" r:id="rId15"/>
    <p:sldId id="268" r:id="rId16"/>
    <p:sldId id="275" r:id="rId17"/>
    <p:sldId id="260" r:id="rId18"/>
    <p:sldId id="261" r:id="rId19"/>
    <p:sldId id="26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E47990-88B4-7543-AABB-4510932750FD}" v="1239" dt="2024-10-02T20:15:01.221"/>
    <p1510:client id="{C03C5AEC-7442-06C6-9411-C08912416FDC}" v="274" dt="2024-10-02T18:54:41.055"/>
    <p1510:client id="{C6E4F053-6222-6182-88BB-00037B589696}" v="17" dt="2024-10-03T13:45:17.299"/>
    <p1510:client id="{D9A9F775-A335-2955-039B-24AFCA4CA9DA}" v="9" dt="2024-10-03T13:50:53.154"/>
  </p1510:revLst>
</p1510:revInfo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4"/>
  </p:normalViewPr>
  <p:slideViewPr>
    <p:cSldViewPr snapToGrid="0">
      <p:cViewPr varScale="1">
        <p:scale>
          <a:sx n="106" d="100"/>
          <a:sy n="106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1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1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85F14-D469-4BA9-88FB-5338F02943B0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72D3B7-E60A-4DF8-9DA2-AC4F0FB9E2E9}">
      <dgm:prSet/>
      <dgm:spPr/>
      <dgm:t>
        <a:bodyPr/>
        <a:lstStyle/>
        <a:p>
          <a:r>
            <a:rPr lang="en-US"/>
            <a:t>Our Q4 -Q6 goals included launching three new brands, investing in R&amp;D, and enhancing product quality and sustainability through system improvements. </a:t>
          </a:r>
        </a:p>
      </dgm:t>
    </dgm:pt>
    <dgm:pt modelId="{71B20B94-7C0B-4872-9DC8-18AF51FED466}" type="parTrans" cxnId="{54D3F30F-8CDB-4884-8F34-529F6CF9C437}">
      <dgm:prSet/>
      <dgm:spPr/>
      <dgm:t>
        <a:bodyPr/>
        <a:lstStyle/>
        <a:p>
          <a:endParaRPr lang="en-US"/>
        </a:p>
      </dgm:t>
    </dgm:pt>
    <dgm:pt modelId="{EFF200B7-A8DC-4B3F-9205-393366B73721}" type="sibTrans" cxnId="{54D3F30F-8CDB-4884-8F34-529F6CF9C437}">
      <dgm:prSet/>
      <dgm:spPr/>
      <dgm:t>
        <a:bodyPr/>
        <a:lstStyle/>
        <a:p>
          <a:endParaRPr lang="en-US"/>
        </a:p>
      </dgm:t>
    </dgm:pt>
    <dgm:pt modelId="{52E6AD28-E20C-466E-8FC4-83E9968CCB56}">
      <dgm:prSet/>
      <dgm:spPr/>
      <dgm:t>
        <a:bodyPr/>
        <a:lstStyle/>
        <a:p>
          <a:r>
            <a:rPr lang="en-US" b="1"/>
            <a:t>Q4</a:t>
          </a:r>
          <a:r>
            <a:rPr lang="en-US"/>
            <a:t> focused on launching three new models, targeting all 3 segments. </a:t>
          </a:r>
        </a:p>
        <a:p>
          <a:r>
            <a:rPr lang="en-US"/>
            <a:t>-Projected revenue was $1,208,655</a:t>
          </a:r>
        </a:p>
        <a:p>
          <a:r>
            <a:rPr lang="en-US"/>
            <a:t>-Actual revenue was $1,658,250. </a:t>
          </a:r>
        </a:p>
        <a:p>
          <a:r>
            <a:rPr lang="en-US"/>
            <a:t>-R&amp;D expenses reached $2,150,863</a:t>
          </a:r>
        </a:p>
        <a:p>
          <a:r>
            <a:rPr lang="en-US"/>
            <a:t>-Operating loss was $2,254,745, despite a $2.5 million venture capital investment.</a:t>
          </a:r>
        </a:p>
      </dgm:t>
    </dgm:pt>
    <dgm:pt modelId="{6E61B283-D260-4B7C-AE62-9F46206E54DD}" type="parTrans" cxnId="{91DCA334-9748-4FC6-B975-D4AAB1E8B511}">
      <dgm:prSet/>
      <dgm:spPr/>
      <dgm:t>
        <a:bodyPr/>
        <a:lstStyle/>
        <a:p>
          <a:endParaRPr lang="en-US"/>
        </a:p>
      </dgm:t>
    </dgm:pt>
    <dgm:pt modelId="{3859D1A7-09F2-4208-A68E-2192473B4B2C}" type="sibTrans" cxnId="{91DCA334-9748-4FC6-B975-D4AAB1E8B511}">
      <dgm:prSet/>
      <dgm:spPr/>
      <dgm:t>
        <a:bodyPr/>
        <a:lstStyle/>
        <a:p>
          <a:endParaRPr lang="en-US"/>
        </a:p>
      </dgm:t>
    </dgm:pt>
    <dgm:pt modelId="{45BFDD6B-3796-410F-AD7F-43FAED699B1B}">
      <dgm:prSet/>
      <dgm:spPr/>
      <dgm:t>
        <a:bodyPr/>
        <a:lstStyle/>
        <a:p>
          <a:r>
            <a:rPr lang="en-US" b="1"/>
            <a:t>Q5 </a:t>
          </a:r>
          <a:r>
            <a:rPr lang="en-US" b="0"/>
            <a:t>was planned for consolidation</a:t>
          </a:r>
        </a:p>
        <a:p>
          <a:r>
            <a:rPr lang="en-US"/>
            <a:t>-R&amp;D expenses were $886,794 </a:t>
          </a:r>
        </a:p>
        <a:p>
          <a:r>
            <a:rPr lang="en-US"/>
            <a:t>-Advertising Expenses were $164,315</a:t>
          </a:r>
        </a:p>
        <a:p>
          <a:r>
            <a:rPr lang="en-US"/>
            <a:t>-Expected revenue was $1,885,000</a:t>
          </a:r>
        </a:p>
        <a:p>
          <a:r>
            <a:rPr lang="en-US"/>
            <a:t>-Actual revenue was $3,953,950  </a:t>
          </a:r>
        </a:p>
        <a:p>
          <a:r>
            <a:rPr lang="en-US"/>
            <a:t>-Operating profit was $297,454</a:t>
          </a:r>
        </a:p>
        <a:p>
          <a:r>
            <a:rPr lang="en-US"/>
            <a:t>-Negative retained earnings were $4,194,656.</a:t>
          </a:r>
        </a:p>
      </dgm:t>
    </dgm:pt>
    <dgm:pt modelId="{19179CF0-2422-464E-969B-E3AD373B9513}" type="parTrans" cxnId="{F4F3E48E-6F00-4628-A07D-B48F530C6F61}">
      <dgm:prSet/>
      <dgm:spPr/>
      <dgm:t>
        <a:bodyPr/>
        <a:lstStyle/>
        <a:p>
          <a:endParaRPr lang="en-US"/>
        </a:p>
      </dgm:t>
    </dgm:pt>
    <dgm:pt modelId="{047A5774-B6DC-4FA2-AC26-476401B61FE8}" type="sibTrans" cxnId="{F4F3E48E-6F00-4628-A07D-B48F530C6F61}">
      <dgm:prSet/>
      <dgm:spPr/>
      <dgm:t>
        <a:bodyPr/>
        <a:lstStyle/>
        <a:p>
          <a:endParaRPr lang="en-US"/>
        </a:p>
      </dgm:t>
    </dgm:pt>
    <dgm:pt modelId="{1EB141DB-B49B-4F63-9283-15AE08585AC8}">
      <dgm:prSet/>
      <dgm:spPr/>
      <dgm:t>
        <a:bodyPr/>
        <a:lstStyle/>
        <a:p>
          <a:r>
            <a:rPr lang="en-US" b="1"/>
            <a:t>Q6</a:t>
          </a:r>
          <a:r>
            <a:rPr lang="en-US"/>
            <a:t> aimed for continued investments</a:t>
          </a:r>
        </a:p>
        <a:p>
          <a:r>
            <a:rPr lang="en-US"/>
            <a:t>–Allocated $500,000 for improvements </a:t>
          </a:r>
        </a:p>
        <a:p>
          <a:r>
            <a:rPr lang="en-US"/>
            <a:t>-Increased marketing expenses to $168,350</a:t>
          </a:r>
        </a:p>
        <a:p>
          <a:r>
            <a:rPr lang="en-US"/>
            <a:t>-Projected revenue was $2,047,500 </a:t>
          </a:r>
        </a:p>
        <a:p>
          <a:r>
            <a:rPr lang="en-US"/>
            <a:t>-Actual revenue was$8,481,650</a:t>
          </a:r>
        </a:p>
        <a:p>
          <a:r>
            <a:rPr lang="en-US"/>
            <a:t>-Operating profit increased to $4,016,705</a:t>
          </a:r>
        </a:p>
        <a:p>
          <a:r>
            <a:rPr lang="en-US"/>
            <a:t>-Net income was $3,480,233.</a:t>
          </a:r>
          <a:r>
            <a:rPr lang="en-US" b="0" i="0"/>
            <a:t> </a:t>
          </a:r>
          <a:endParaRPr lang="en-US"/>
        </a:p>
      </dgm:t>
    </dgm:pt>
    <dgm:pt modelId="{11D6B7DD-02E6-4FB1-A933-5C4D26664A7E}" type="parTrans" cxnId="{F5E27E90-D4B8-42B3-B269-88D00280733A}">
      <dgm:prSet/>
      <dgm:spPr/>
      <dgm:t>
        <a:bodyPr/>
        <a:lstStyle/>
        <a:p>
          <a:endParaRPr lang="en-US"/>
        </a:p>
      </dgm:t>
    </dgm:pt>
    <dgm:pt modelId="{DB221F49-A0DA-4491-A2AE-E2ECF5AA46C2}" type="sibTrans" cxnId="{F5E27E90-D4B8-42B3-B269-88D00280733A}">
      <dgm:prSet/>
      <dgm:spPr/>
      <dgm:t>
        <a:bodyPr/>
        <a:lstStyle/>
        <a:p>
          <a:endParaRPr lang="en-US"/>
        </a:p>
      </dgm:t>
    </dgm:pt>
    <dgm:pt modelId="{3738EBBF-44F5-AD4D-AD44-4622EAC3E423}" type="pres">
      <dgm:prSet presAssocID="{8AA85F14-D469-4BA9-88FB-5338F02943B0}" presName="diagram" presStyleCnt="0">
        <dgm:presLayoutVars>
          <dgm:dir/>
          <dgm:resizeHandles val="exact"/>
        </dgm:presLayoutVars>
      </dgm:prSet>
      <dgm:spPr/>
    </dgm:pt>
    <dgm:pt modelId="{373CB448-9C02-C74E-B968-818164A211AA}" type="pres">
      <dgm:prSet presAssocID="{FB72D3B7-E60A-4DF8-9DA2-AC4F0FB9E2E9}" presName="node" presStyleLbl="node1" presStyleIdx="0" presStyleCnt="4">
        <dgm:presLayoutVars>
          <dgm:bulletEnabled val="1"/>
        </dgm:presLayoutVars>
      </dgm:prSet>
      <dgm:spPr/>
    </dgm:pt>
    <dgm:pt modelId="{26490C29-AF71-554D-95CD-6571045A1084}" type="pres">
      <dgm:prSet presAssocID="{EFF200B7-A8DC-4B3F-9205-393366B73721}" presName="sibTrans" presStyleLbl="sibTrans2D1" presStyleIdx="0" presStyleCnt="3"/>
      <dgm:spPr/>
    </dgm:pt>
    <dgm:pt modelId="{35715ADE-9498-8549-BAE6-104934EF0296}" type="pres">
      <dgm:prSet presAssocID="{EFF200B7-A8DC-4B3F-9205-393366B73721}" presName="connectorText" presStyleLbl="sibTrans2D1" presStyleIdx="0" presStyleCnt="3"/>
      <dgm:spPr/>
    </dgm:pt>
    <dgm:pt modelId="{77756232-FEFE-5141-B766-04736BDBEBA1}" type="pres">
      <dgm:prSet presAssocID="{52E6AD28-E20C-466E-8FC4-83E9968CCB56}" presName="node" presStyleLbl="node1" presStyleIdx="1" presStyleCnt="4">
        <dgm:presLayoutVars>
          <dgm:bulletEnabled val="1"/>
        </dgm:presLayoutVars>
      </dgm:prSet>
      <dgm:spPr/>
    </dgm:pt>
    <dgm:pt modelId="{87A0DBF0-385C-2749-BD8B-FA23907ACF84}" type="pres">
      <dgm:prSet presAssocID="{3859D1A7-09F2-4208-A68E-2192473B4B2C}" presName="sibTrans" presStyleLbl="sibTrans2D1" presStyleIdx="1" presStyleCnt="3"/>
      <dgm:spPr/>
    </dgm:pt>
    <dgm:pt modelId="{B6205334-ED3F-B341-8A1F-4A5119455F6D}" type="pres">
      <dgm:prSet presAssocID="{3859D1A7-09F2-4208-A68E-2192473B4B2C}" presName="connectorText" presStyleLbl="sibTrans2D1" presStyleIdx="1" presStyleCnt="3"/>
      <dgm:spPr/>
    </dgm:pt>
    <dgm:pt modelId="{E4EF2054-443A-3B48-9D3F-72572DF49A03}" type="pres">
      <dgm:prSet presAssocID="{45BFDD6B-3796-410F-AD7F-43FAED699B1B}" presName="node" presStyleLbl="node1" presStyleIdx="2" presStyleCnt="4">
        <dgm:presLayoutVars>
          <dgm:bulletEnabled val="1"/>
        </dgm:presLayoutVars>
      </dgm:prSet>
      <dgm:spPr/>
    </dgm:pt>
    <dgm:pt modelId="{16F27015-5786-004F-BDD3-A1AB13353394}" type="pres">
      <dgm:prSet presAssocID="{047A5774-B6DC-4FA2-AC26-476401B61FE8}" presName="sibTrans" presStyleLbl="sibTrans2D1" presStyleIdx="2" presStyleCnt="3"/>
      <dgm:spPr/>
    </dgm:pt>
    <dgm:pt modelId="{1D09626E-2EE2-B64B-8436-CDE498F31239}" type="pres">
      <dgm:prSet presAssocID="{047A5774-B6DC-4FA2-AC26-476401B61FE8}" presName="connectorText" presStyleLbl="sibTrans2D1" presStyleIdx="2" presStyleCnt="3"/>
      <dgm:spPr/>
    </dgm:pt>
    <dgm:pt modelId="{0CDFBB00-968C-0743-B21C-D0BE9BD90AC6}" type="pres">
      <dgm:prSet presAssocID="{1EB141DB-B49B-4F63-9283-15AE08585AC8}" presName="node" presStyleLbl="node1" presStyleIdx="3" presStyleCnt="4">
        <dgm:presLayoutVars>
          <dgm:bulletEnabled val="1"/>
        </dgm:presLayoutVars>
      </dgm:prSet>
      <dgm:spPr/>
    </dgm:pt>
  </dgm:ptLst>
  <dgm:cxnLst>
    <dgm:cxn modelId="{54D3F30F-8CDB-4884-8F34-529F6CF9C437}" srcId="{8AA85F14-D469-4BA9-88FB-5338F02943B0}" destId="{FB72D3B7-E60A-4DF8-9DA2-AC4F0FB9E2E9}" srcOrd="0" destOrd="0" parTransId="{71B20B94-7C0B-4872-9DC8-18AF51FED466}" sibTransId="{EFF200B7-A8DC-4B3F-9205-393366B73721}"/>
    <dgm:cxn modelId="{5264321B-4504-3643-A92D-B8C9C299F1C9}" type="presOf" srcId="{3859D1A7-09F2-4208-A68E-2192473B4B2C}" destId="{87A0DBF0-385C-2749-BD8B-FA23907ACF84}" srcOrd="0" destOrd="0" presId="urn:microsoft.com/office/officeart/2005/8/layout/process5"/>
    <dgm:cxn modelId="{91DCA334-9748-4FC6-B975-D4AAB1E8B511}" srcId="{8AA85F14-D469-4BA9-88FB-5338F02943B0}" destId="{52E6AD28-E20C-466E-8FC4-83E9968CCB56}" srcOrd="1" destOrd="0" parTransId="{6E61B283-D260-4B7C-AE62-9F46206E54DD}" sibTransId="{3859D1A7-09F2-4208-A68E-2192473B4B2C}"/>
    <dgm:cxn modelId="{C728C56E-1A1A-C540-9EF2-25A060A32ABD}" type="presOf" srcId="{047A5774-B6DC-4FA2-AC26-476401B61FE8}" destId="{1D09626E-2EE2-B64B-8436-CDE498F31239}" srcOrd="1" destOrd="0" presId="urn:microsoft.com/office/officeart/2005/8/layout/process5"/>
    <dgm:cxn modelId="{D2CD0883-D85D-704B-A939-F949606575E5}" type="presOf" srcId="{52E6AD28-E20C-466E-8FC4-83E9968CCB56}" destId="{77756232-FEFE-5141-B766-04736BDBEBA1}" srcOrd="0" destOrd="0" presId="urn:microsoft.com/office/officeart/2005/8/layout/process5"/>
    <dgm:cxn modelId="{38D9068D-0F44-1142-9109-FE085D0C4698}" type="presOf" srcId="{EFF200B7-A8DC-4B3F-9205-393366B73721}" destId="{26490C29-AF71-554D-95CD-6571045A1084}" srcOrd="0" destOrd="0" presId="urn:microsoft.com/office/officeart/2005/8/layout/process5"/>
    <dgm:cxn modelId="{AF8D348E-BEB0-BE45-826F-861C83660807}" type="presOf" srcId="{1EB141DB-B49B-4F63-9283-15AE08585AC8}" destId="{0CDFBB00-968C-0743-B21C-D0BE9BD90AC6}" srcOrd="0" destOrd="0" presId="urn:microsoft.com/office/officeart/2005/8/layout/process5"/>
    <dgm:cxn modelId="{F4F3E48E-6F00-4628-A07D-B48F530C6F61}" srcId="{8AA85F14-D469-4BA9-88FB-5338F02943B0}" destId="{45BFDD6B-3796-410F-AD7F-43FAED699B1B}" srcOrd="2" destOrd="0" parTransId="{19179CF0-2422-464E-969B-E3AD373B9513}" sibTransId="{047A5774-B6DC-4FA2-AC26-476401B61FE8}"/>
    <dgm:cxn modelId="{F5E27E90-D4B8-42B3-B269-88D00280733A}" srcId="{8AA85F14-D469-4BA9-88FB-5338F02943B0}" destId="{1EB141DB-B49B-4F63-9283-15AE08585AC8}" srcOrd="3" destOrd="0" parTransId="{11D6B7DD-02E6-4FB1-A933-5C4D26664A7E}" sibTransId="{DB221F49-A0DA-4491-A2AE-E2ECF5AA46C2}"/>
    <dgm:cxn modelId="{F4A74193-B302-F243-A1C9-AEC59C8C18D8}" type="presOf" srcId="{047A5774-B6DC-4FA2-AC26-476401B61FE8}" destId="{16F27015-5786-004F-BDD3-A1AB13353394}" srcOrd="0" destOrd="0" presId="urn:microsoft.com/office/officeart/2005/8/layout/process5"/>
    <dgm:cxn modelId="{0B351FA3-C8D5-5247-85F2-166A0AE2B4F1}" type="presOf" srcId="{3859D1A7-09F2-4208-A68E-2192473B4B2C}" destId="{B6205334-ED3F-B341-8A1F-4A5119455F6D}" srcOrd="1" destOrd="0" presId="urn:microsoft.com/office/officeart/2005/8/layout/process5"/>
    <dgm:cxn modelId="{3E730EB1-5815-534D-AC39-784E3E200EE7}" type="presOf" srcId="{45BFDD6B-3796-410F-AD7F-43FAED699B1B}" destId="{E4EF2054-443A-3B48-9D3F-72572DF49A03}" srcOrd="0" destOrd="0" presId="urn:microsoft.com/office/officeart/2005/8/layout/process5"/>
    <dgm:cxn modelId="{6C3663C9-916E-084D-9120-4051F2D81DEF}" type="presOf" srcId="{FB72D3B7-E60A-4DF8-9DA2-AC4F0FB9E2E9}" destId="{373CB448-9C02-C74E-B968-818164A211AA}" srcOrd="0" destOrd="0" presId="urn:microsoft.com/office/officeart/2005/8/layout/process5"/>
    <dgm:cxn modelId="{B6E02CCF-077B-D94D-8DEF-4B072B15E67A}" type="presOf" srcId="{8AA85F14-D469-4BA9-88FB-5338F02943B0}" destId="{3738EBBF-44F5-AD4D-AD44-4622EAC3E423}" srcOrd="0" destOrd="0" presId="urn:microsoft.com/office/officeart/2005/8/layout/process5"/>
    <dgm:cxn modelId="{8CFA05E2-8C4B-1E4B-9133-2BB3ADA4B9CF}" type="presOf" srcId="{EFF200B7-A8DC-4B3F-9205-393366B73721}" destId="{35715ADE-9498-8549-BAE6-104934EF0296}" srcOrd="1" destOrd="0" presId="urn:microsoft.com/office/officeart/2005/8/layout/process5"/>
    <dgm:cxn modelId="{B5335757-CADD-8F4B-9BE8-EFA7A81CE05D}" type="presParOf" srcId="{3738EBBF-44F5-AD4D-AD44-4622EAC3E423}" destId="{373CB448-9C02-C74E-B968-818164A211AA}" srcOrd="0" destOrd="0" presId="urn:microsoft.com/office/officeart/2005/8/layout/process5"/>
    <dgm:cxn modelId="{BC6F68C6-F0FA-8746-8C01-3238364E9087}" type="presParOf" srcId="{3738EBBF-44F5-AD4D-AD44-4622EAC3E423}" destId="{26490C29-AF71-554D-95CD-6571045A1084}" srcOrd="1" destOrd="0" presId="urn:microsoft.com/office/officeart/2005/8/layout/process5"/>
    <dgm:cxn modelId="{7CE37201-DD5E-2F49-ADB4-91BE816D3620}" type="presParOf" srcId="{26490C29-AF71-554D-95CD-6571045A1084}" destId="{35715ADE-9498-8549-BAE6-104934EF0296}" srcOrd="0" destOrd="0" presId="urn:microsoft.com/office/officeart/2005/8/layout/process5"/>
    <dgm:cxn modelId="{561A17A5-888F-4B4C-A751-2200EBE1B18F}" type="presParOf" srcId="{3738EBBF-44F5-AD4D-AD44-4622EAC3E423}" destId="{77756232-FEFE-5141-B766-04736BDBEBA1}" srcOrd="2" destOrd="0" presId="urn:microsoft.com/office/officeart/2005/8/layout/process5"/>
    <dgm:cxn modelId="{DBA6BC6A-8AE9-CE46-AAB7-BC78482C45C9}" type="presParOf" srcId="{3738EBBF-44F5-AD4D-AD44-4622EAC3E423}" destId="{87A0DBF0-385C-2749-BD8B-FA23907ACF84}" srcOrd="3" destOrd="0" presId="urn:microsoft.com/office/officeart/2005/8/layout/process5"/>
    <dgm:cxn modelId="{75A81049-79D4-5448-9584-CAFA1FCD392E}" type="presParOf" srcId="{87A0DBF0-385C-2749-BD8B-FA23907ACF84}" destId="{B6205334-ED3F-B341-8A1F-4A5119455F6D}" srcOrd="0" destOrd="0" presId="urn:microsoft.com/office/officeart/2005/8/layout/process5"/>
    <dgm:cxn modelId="{A82D316B-863A-6541-9513-3A3815D57E17}" type="presParOf" srcId="{3738EBBF-44F5-AD4D-AD44-4622EAC3E423}" destId="{E4EF2054-443A-3B48-9D3F-72572DF49A03}" srcOrd="4" destOrd="0" presId="urn:microsoft.com/office/officeart/2005/8/layout/process5"/>
    <dgm:cxn modelId="{483C3143-9D18-E54A-95D5-162229374BE7}" type="presParOf" srcId="{3738EBBF-44F5-AD4D-AD44-4622EAC3E423}" destId="{16F27015-5786-004F-BDD3-A1AB13353394}" srcOrd="5" destOrd="0" presId="urn:microsoft.com/office/officeart/2005/8/layout/process5"/>
    <dgm:cxn modelId="{1CCD3F16-74D6-EA41-B4C1-CC51C58FA039}" type="presParOf" srcId="{16F27015-5786-004F-BDD3-A1AB13353394}" destId="{1D09626E-2EE2-B64B-8436-CDE498F31239}" srcOrd="0" destOrd="0" presId="urn:microsoft.com/office/officeart/2005/8/layout/process5"/>
    <dgm:cxn modelId="{8A395297-2D9D-164A-B396-E9726CF48A46}" type="presParOf" srcId="{3738EBBF-44F5-AD4D-AD44-4622EAC3E423}" destId="{0CDFBB00-968C-0743-B21C-D0BE9BD90AC6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6D4D9A-DC5D-4944-80DA-519F8CFA3FB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85E060-0CD5-4F53-8DDF-EB82E1C19100}">
      <dgm:prSet/>
      <dgm:spPr/>
      <dgm:t>
        <a:bodyPr/>
        <a:lstStyle/>
        <a:p>
          <a:r>
            <a:rPr lang="en-US"/>
            <a:t>Quarter 4:</a:t>
          </a:r>
        </a:p>
        <a:p>
          <a:r>
            <a:rPr lang="en-US"/>
            <a:t>The company invested over $2.15 million in R&amp;D to enhance bike designs, leading to an operating loss of $2.25 million due to high expenses. Despite efforts in system improvements and marketing, the negative net income reached $2.32 million.</a:t>
          </a:r>
        </a:p>
      </dgm:t>
    </dgm:pt>
    <dgm:pt modelId="{8561916E-9242-4B6A-BCDD-4FD896924800}" type="parTrans" cxnId="{4DDD7E23-A224-4251-A7B2-8404710882F9}">
      <dgm:prSet/>
      <dgm:spPr/>
      <dgm:t>
        <a:bodyPr/>
        <a:lstStyle/>
        <a:p>
          <a:endParaRPr lang="en-US"/>
        </a:p>
      </dgm:t>
    </dgm:pt>
    <dgm:pt modelId="{19405AEA-6DD9-48F8-8EE3-5ECD7D005FFF}" type="sibTrans" cxnId="{4DDD7E23-A224-4251-A7B2-8404710882F9}">
      <dgm:prSet/>
      <dgm:spPr/>
      <dgm:t>
        <a:bodyPr/>
        <a:lstStyle/>
        <a:p>
          <a:endParaRPr lang="en-US"/>
        </a:p>
      </dgm:t>
    </dgm:pt>
    <dgm:pt modelId="{BD02AFD3-6149-AF42-934D-57152CEB13EA}" type="pres">
      <dgm:prSet presAssocID="{736D4D9A-DC5D-4944-80DA-519F8CFA3FB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A9A7815-E7C1-7141-A467-C06A5847147E}" type="pres">
      <dgm:prSet presAssocID="{7A85E060-0CD5-4F53-8DDF-EB82E1C19100}" presName="hierRoot1" presStyleCnt="0"/>
      <dgm:spPr/>
    </dgm:pt>
    <dgm:pt modelId="{6EBB04DE-1C1B-2F4E-805C-B18FF88AAC40}" type="pres">
      <dgm:prSet presAssocID="{7A85E060-0CD5-4F53-8DDF-EB82E1C19100}" presName="composite" presStyleCnt="0"/>
      <dgm:spPr/>
    </dgm:pt>
    <dgm:pt modelId="{1F39BC6C-E12C-874A-AF8B-713A2904BC40}" type="pres">
      <dgm:prSet presAssocID="{7A85E060-0CD5-4F53-8DDF-EB82E1C19100}" presName="background" presStyleLbl="node0" presStyleIdx="0" presStyleCnt="1"/>
      <dgm:spPr/>
    </dgm:pt>
    <dgm:pt modelId="{3032C343-9F72-CC44-9A1E-78AD32D00B66}" type="pres">
      <dgm:prSet presAssocID="{7A85E060-0CD5-4F53-8DDF-EB82E1C19100}" presName="text" presStyleLbl="fgAcc0" presStyleIdx="0" presStyleCnt="1">
        <dgm:presLayoutVars>
          <dgm:chPref val="3"/>
        </dgm:presLayoutVars>
      </dgm:prSet>
      <dgm:spPr/>
    </dgm:pt>
    <dgm:pt modelId="{6D105863-0B2C-5B4F-B7A2-51BBCA6E9AB9}" type="pres">
      <dgm:prSet presAssocID="{7A85E060-0CD5-4F53-8DDF-EB82E1C19100}" presName="hierChild2" presStyleCnt="0"/>
      <dgm:spPr/>
    </dgm:pt>
  </dgm:ptLst>
  <dgm:cxnLst>
    <dgm:cxn modelId="{4DDD7E23-A224-4251-A7B2-8404710882F9}" srcId="{736D4D9A-DC5D-4944-80DA-519F8CFA3FB4}" destId="{7A85E060-0CD5-4F53-8DDF-EB82E1C19100}" srcOrd="0" destOrd="0" parTransId="{8561916E-9242-4B6A-BCDD-4FD896924800}" sibTransId="{19405AEA-6DD9-48F8-8EE3-5ECD7D005FFF}"/>
    <dgm:cxn modelId="{40F6C556-FE4C-794B-9C2F-AAEB6D90EDA6}" type="presOf" srcId="{7A85E060-0CD5-4F53-8DDF-EB82E1C19100}" destId="{3032C343-9F72-CC44-9A1E-78AD32D00B66}" srcOrd="0" destOrd="0" presId="urn:microsoft.com/office/officeart/2005/8/layout/hierarchy1"/>
    <dgm:cxn modelId="{D2E87E97-E682-514F-9EAF-63B289A7C625}" type="presOf" srcId="{736D4D9A-DC5D-4944-80DA-519F8CFA3FB4}" destId="{BD02AFD3-6149-AF42-934D-57152CEB13EA}" srcOrd="0" destOrd="0" presId="urn:microsoft.com/office/officeart/2005/8/layout/hierarchy1"/>
    <dgm:cxn modelId="{04D4018E-F6AE-4345-BFD5-15DD61FD88D4}" type="presParOf" srcId="{BD02AFD3-6149-AF42-934D-57152CEB13EA}" destId="{AA9A7815-E7C1-7141-A467-C06A5847147E}" srcOrd="0" destOrd="0" presId="urn:microsoft.com/office/officeart/2005/8/layout/hierarchy1"/>
    <dgm:cxn modelId="{28F84D43-E9EA-2C48-A450-593AE2776831}" type="presParOf" srcId="{AA9A7815-E7C1-7141-A467-C06A5847147E}" destId="{6EBB04DE-1C1B-2F4E-805C-B18FF88AAC40}" srcOrd="0" destOrd="0" presId="urn:microsoft.com/office/officeart/2005/8/layout/hierarchy1"/>
    <dgm:cxn modelId="{A0F24440-F5CE-6347-A30B-57AC496EBBB4}" type="presParOf" srcId="{6EBB04DE-1C1B-2F4E-805C-B18FF88AAC40}" destId="{1F39BC6C-E12C-874A-AF8B-713A2904BC40}" srcOrd="0" destOrd="0" presId="urn:microsoft.com/office/officeart/2005/8/layout/hierarchy1"/>
    <dgm:cxn modelId="{E557EF5A-175A-D843-B5CA-429AC9E1EF5D}" type="presParOf" srcId="{6EBB04DE-1C1B-2F4E-805C-B18FF88AAC40}" destId="{3032C343-9F72-CC44-9A1E-78AD32D00B66}" srcOrd="1" destOrd="0" presId="urn:microsoft.com/office/officeart/2005/8/layout/hierarchy1"/>
    <dgm:cxn modelId="{5DC897BB-2213-4348-9335-459154591A60}" type="presParOf" srcId="{AA9A7815-E7C1-7141-A467-C06A5847147E}" destId="{6D105863-0B2C-5B4F-B7A2-51BBCA6E9AB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24911FA-12FA-4CFF-A6C2-113161DE0B1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B0D4CDA-531C-470C-99F8-3D35722FC954}">
      <dgm:prSet/>
      <dgm:spPr/>
      <dgm:t>
        <a:bodyPr/>
        <a:lstStyle/>
        <a:p>
          <a:r>
            <a:rPr lang="en-US"/>
            <a:t>Quarter 5:</a:t>
          </a:r>
        </a:p>
      </dgm:t>
    </dgm:pt>
    <dgm:pt modelId="{B5F940B7-9A39-4A73-9F10-CD0763EF417E}" type="parTrans" cxnId="{E5B22463-5A26-47A2-B605-D66A79E87BDE}">
      <dgm:prSet/>
      <dgm:spPr/>
      <dgm:t>
        <a:bodyPr/>
        <a:lstStyle/>
        <a:p>
          <a:endParaRPr lang="en-US"/>
        </a:p>
      </dgm:t>
    </dgm:pt>
    <dgm:pt modelId="{52847C07-691E-4504-BC08-80A2A6D27C8D}" type="sibTrans" cxnId="{E5B22463-5A26-47A2-B605-D66A79E87BDE}">
      <dgm:prSet/>
      <dgm:spPr/>
      <dgm:t>
        <a:bodyPr/>
        <a:lstStyle/>
        <a:p>
          <a:endParaRPr lang="en-US"/>
        </a:p>
      </dgm:t>
    </dgm:pt>
    <dgm:pt modelId="{30EAAAF2-53E0-4140-A4FA-C8A5996E39FE}">
      <dgm:prSet/>
      <dgm:spPr/>
      <dgm:t>
        <a:bodyPr/>
        <a:lstStyle/>
        <a:p>
          <a:r>
            <a:rPr lang="en-US"/>
            <a:t>To address the challenges of Q4, the team optimized production costs and reduced R&amp;D spending to $886,794. The launch of new models like BlazeRush Pro2 and SmoothGlider3.0 boosted revenue to $3.95 million and a net income of $241,204. </a:t>
          </a:r>
        </a:p>
      </dgm:t>
    </dgm:pt>
    <dgm:pt modelId="{4E09BDD3-DE94-4709-A86E-D519445E8498}" type="parTrans" cxnId="{FDB52167-000C-4E68-A80C-CF522BD386FD}">
      <dgm:prSet/>
      <dgm:spPr/>
      <dgm:t>
        <a:bodyPr/>
        <a:lstStyle/>
        <a:p>
          <a:endParaRPr lang="en-US"/>
        </a:p>
      </dgm:t>
    </dgm:pt>
    <dgm:pt modelId="{1E66EA5D-8D1B-4547-9C81-5575C13BD4B6}" type="sibTrans" cxnId="{FDB52167-000C-4E68-A80C-CF522BD386FD}">
      <dgm:prSet/>
      <dgm:spPr/>
      <dgm:t>
        <a:bodyPr/>
        <a:lstStyle/>
        <a:p>
          <a:endParaRPr lang="en-US"/>
        </a:p>
      </dgm:t>
    </dgm:pt>
    <dgm:pt modelId="{1C7E4437-4F0A-A542-9044-6F5ED2B2C9D5}" type="pres">
      <dgm:prSet presAssocID="{E24911FA-12FA-4CFF-A6C2-113161DE0B1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7FD2163-6594-D34A-9F83-B52D0F09D7CB}" type="pres">
      <dgm:prSet presAssocID="{0B0D4CDA-531C-470C-99F8-3D35722FC954}" presName="hierRoot1" presStyleCnt="0"/>
      <dgm:spPr/>
    </dgm:pt>
    <dgm:pt modelId="{297DEB3D-0108-7640-A381-957DC1CC2B8C}" type="pres">
      <dgm:prSet presAssocID="{0B0D4CDA-531C-470C-99F8-3D35722FC954}" presName="composite" presStyleCnt="0"/>
      <dgm:spPr/>
    </dgm:pt>
    <dgm:pt modelId="{D2C6F0CA-13D6-A444-8F90-FEF9428188D1}" type="pres">
      <dgm:prSet presAssocID="{0B0D4CDA-531C-470C-99F8-3D35722FC954}" presName="background" presStyleLbl="node0" presStyleIdx="0" presStyleCnt="2"/>
      <dgm:spPr/>
    </dgm:pt>
    <dgm:pt modelId="{EC48C08F-E6BF-BA4E-B236-5130825737C3}" type="pres">
      <dgm:prSet presAssocID="{0B0D4CDA-531C-470C-99F8-3D35722FC954}" presName="text" presStyleLbl="fgAcc0" presStyleIdx="0" presStyleCnt="2">
        <dgm:presLayoutVars>
          <dgm:chPref val="3"/>
        </dgm:presLayoutVars>
      </dgm:prSet>
      <dgm:spPr/>
    </dgm:pt>
    <dgm:pt modelId="{460ED6F4-A4F4-A540-B7E2-C4DEF8A1401B}" type="pres">
      <dgm:prSet presAssocID="{0B0D4CDA-531C-470C-99F8-3D35722FC954}" presName="hierChild2" presStyleCnt="0"/>
      <dgm:spPr/>
    </dgm:pt>
    <dgm:pt modelId="{3FDD8F26-7ACC-6D43-BBFE-DDD57EB31048}" type="pres">
      <dgm:prSet presAssocID="{30EAAAF2-53E0-4140-A4FA-C8A5996E39FE}" presName="hierRoot1" presStyleCnt="0"/>
      <dgm:spPr/>
    </dgm:pt>
    <dgm:pt modelId="{73DABBEA-33A2-4048-8119-485E0B9A2A35}" type="pres">
      <dgm:prSet presAssocID="{30EAAAF2-53E0-4140-A4FA-C8A5996E39FE}" presName="composite" presStyleCnt="0"/>
      <dgm:spPr/>
    </dgm:pt>
    <dgm:pt modelId="{F020CB63-10D7-7640-A7A5-C4B97C612755}" type="pres">
      <dgm:prSet presAssocID="{30EAAAF2-53E0-4140-A4FA-C8A5996E39FE}" presName="background" presStyleLbl="node0" presStyleIdx="1" presStyleCnt="2"/>
      <dgm:spPr/>
    </dgm:pt>
    <dgm:pt modelId="{658E6EC4-2DE9-6943-8D16-E474780FBC2A}" type="pres">
      <dgm:prSet presAssocID="{30EAAAF2-53E0-4140-A4FA-C8A5996E39FE}" presName="text" presStyleLbl="fgAcc0" presStyleIdx="1" presStyleCnt="2">
        <dgm:presLayoutVars>
          <dgm:chPref val="3"/>
        </dgm:presLayoutVars>
      </dgm:prSet>
      <dgm:spPr/>
    </dgm:pt>
    <dgm:pt modelId="{AB340CE0-F2AF-CB4D-A5E6-F0DBCB058C8D}" type="pres">
      <dgm:prSet presAssocID="{30EAAAF2-53E0-4140-A4FA-C8A5996E39FE}" presName="hierChild2" presStyleCnt="0"/>
      <dgm:spPr/>
    </dgm:pt>
  </dgm:ptLst>
  <dgm:cxnLst>
    <dgm:cxn modelId="{E5B22463-5A26-47A2-B605-D66A79E87BDE}" srcId="{E24911FA-12FA-4CFF-A6C2-113161DE0B16}" destId="{0B0D4CDA-531C-470C-99F8-3D35722FC954}" srcOrd="0" destOrd="0" parTransId="{B5F940B7-9A39-4A73-9F10-CD0763EF417E}" sibTransId="{52847C07-691E-4504-BC08-80A2A6D27C8D}"/>
    <dgm:cxn modelId="{FDB52167-000C-4E68-A80C-CF522BD386FD}" srcId="{E24911FA-12FA-4CFF-A6C2-113161DE0B16}" destId="{30EAAAF2-53E0-4140-A4FA-C8A5996E39FE}" srcOrd="1" destOrd="0" parTransId="{4E09BDD3-DE94-4709-A86E-D519445E8498}" sibTransId="{1E66EA5D-8D1B-4547-9C81-5575C13BD4B6}"/>
    <dgm:cxn modelId="{55E81F57-05E5-F54A-A44B-72482AAC716A}" type="presOf" srcId="{0B0D4CDA-531C-470C-99F8-3D35722FC954}" destId="{EC48C08F-E6BF-BA4E-B236-5130825737C3}" srcOrd="0" destOrd="0" presId="urn:microsoft.com/office/officeart/2005/8/layout/hierarchy1"/>
    <dgm:cxn modelId="{CF27067B-4B43-144F-B455-D058E2767167}" type="presOf" srcId="{E24911FA-12FA-4CFF-A6C2-113161DE0B16}" destId="{1C7E4437-4F0A-A542-9044-6F5ED2B2C9D5}" srcOrd="0" destOrd="0" presId="urn:microsoft.com/office/officeart/2005/8/layout/hierarchy1"/>
    <dgm:cxn modelId="{D9794B89-7CDF-1E4D-87BD-3A00E625C901}" type="presOf" srcId="{30EAAAF2-53E0-4140-A4FA-C8A5996E39FE}" destId="{658E6EC4-2DE9-6943-8D16-E474780FBC2A}" srcOrd="0" destOrd="0" presId="urn:microsoft.com/office/officeart/2005/8/layout/hierarchy1"/>
    <dgm:cxn modelId="{A31A12C2-29C3-2746-B8AD-10F9F220279C}" type="presParOf" srcId="{1C7E4437-4F0A-A542-9044-6F5ED2B2C9D5}" destId="{67FD2163-6594-D34A-9F83-B52D0F09D7CB}" srcOrd="0" destOrd="0" presId="urn:microsoft.com/office/officeart/2005/8/layout/hierarchy1"/>
    <dgm:cxn modelId="{8E210199-0CEF-204F-9CA6-A5E54F5A8E73}" type="presParOf" srcId="{67FD2163-6594-D34A-9F83-B52D0F09D7CB}" destId="{297DEB3D-0108-7640-A381-957DC1CC2B8C}" srcOrd="0" destOrd="0" presId="urn:microsoft.com/office/officeart/2005/8/layout/hierarchy1"/>
    <dgm:cxn modelId="{B609A2A7-ACA5-BC42-A72B-53820FF0B294}" type="presParOf" srcId="{297DEB3D-0108-7640-A381-957DC1CC2B8C}" destId="{D2C6F0CA-13D6-A444-8F90-FEF9428188D1}" srcOrd="0" destOrd="0" presId="urn:microsoft.com/office/officeart/2005/8/layout/hierarchy1"/>
    <dgm:cxn modelId="{4A550B43-6B52-AC4D-910B-97316152E928}" type="presParOf" srcId="{297DEB3D-0108-7640-A381-957DC1CC2B8C}" destId="{EC48C08F-E6BF-BA4E-B236-5130825737C3}" srcOrd="1" destOrd="0" presId="urn:microsoft.com/office/officeart/2005/8/layout/hierarchy1"/>
    <dgm:cxn modelId="{F2BDD99B-454F-EA44-840D-9ABB66B4D15C}" type="presParOf" srcId="{67FD2163-6594-D34A-9F83-B52D0F09D7CB}" destId="{460ED6F4-A4F4-A540-B7E2-C4DEF8A1401B}" srcOrd="1" destOrd="0" presId="urn:microsoft.com/office/officeart/2005/8/layout/hierarchy1"/>
    <dgm:cxn modelId="{0A095274-5B86-AB4F-9D7F-0496E40D1432}" type="presParOf" srcId="{1C7E4437-4F0A-A542-9044-6F5ED2B2C9D5}" destId="{3FDD8F26-7ACC-6D43-BBFE-DDD57EB31048}" srcOrd="1" destOrd="0" presId="urn:microsoft.com/office/officeart/2005/8/layout/hierarchy1"/>
    <dgm:cxn modelId="{DA410C45-BFFF-804A-9D02-E5B7A8D0AA32}" type="presParOf" srcId="{3FDD8F26-7ACC-6D43-BBFE-DDD57EB31048}" destId="{73DABBEA-33A2-4048-8119-485E0B9A2A35}" srcOrd="0" destOrd="0" presId="urn:microsoft.com/office/officeart/2005/8/layout/hierarchy1"/>
    <dgm:cxn modelId="{E7F1A3CE-5565-2E47-A930-E8207AA4476E}" type="presParOf" srcId="{73DABBEA-33A2-4048-8119-485E0B9A2A35}" destId="{F020CB63-10D7-7640-A7A5-C4B97C612755}" srcOrd="0" destOrd="0" presId="urn:microsoft.com/office/officeart/2005/8/layout/hierarchy1"/>
    <dgm:cxn modelId="{CCF25F87-B748-CF40-B56A-CEF304581887}" type="presParOf" srcId="{73DABBEA-33A2-4048-8119-485E0B9A2A35}" destId="{658E6EC4-2DE9-6943-8D16-E474780FBC2A}" srcOrd="1" destOrd="0" presId="urn:microsoft.com/office/officeart/2005/8/layout/hierarchy1"/>
    <dgm:cxn modelId="{CE78C3F1-17AB-7545-A506-B36493262C7C}" type="presParOf" srcId="{3FDD8F26-7ACC-6D43-BBFE-DDD57EB31048}" destId="{AB340CE0-F2AF-CB4D-A5E6-F0DBCB058C8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24911FA-12FA-4CFF-A6C2-113161DE0B1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0D4CDA-531C-470C-99F8-3D35722FC954}">
      <dgm:prSet/>
      <dgm:spPr/>
      <dgm:t>
        <a:bodyPr/>
        <a:lstStyle/>
        <a:p>
          <a:r>
            <a:rPr lang="en-US"/>
            <a:t>Quarter 6:</a:t>
          </a:r>
        </a:p>
      </dgm:t>
    </dgm:pt>
    <dgm:pt modelId="{B5F940B7-9A39-4A73-9F10-CD0763EF417E}" type="parTrans" cxnId="{E5B22463-5A26-47A2-B605-D66A79E87BDE}">
      <dgm:prSet/>
      <dgm:spPr/>
      <dgm:t>
        <a:bodyPr/>
        <a:lstStyle/>
        <a:p>
          <a:endParaRPr lang="en-US"/>
        </a:p>
      </dgm:t>
    </dgm:pt>
    <dgm:pt modelId="{52847C07-691E-4504-BC08-80A2A6D27C8D}" type="sibTrans" cxnId="{E5B22463-5A26-47A2-B605-D66A79E87BDE}">
      <dgm:prSet/>
      <dgm:spPr/>
      <dgm:t>
        <a:bodyPr/>
        <a:lstStyle/>
        <a:p>
          <a:endParaRPr lang="en-US"/>
        </a:p>
      </dgm:t>
    </dgm:pt>
    <dgm:pt modelId="{357CC928-5DE3-DB49-89AC-588A20D06DE1}">
      <dgm:prSet/>
      <dgm:spPr/>
      <dgm:t>
        <a:bodyPr/>
        <a:lstStyle/>
        <a:p>
          <a:r>
            <a:rPr lang="en-US"/>
            <a:t>The company invested $736,794 in R&amp;D for innovative features and maintained strong marketing efforts. Revenue soared to $8.48 million, with a gross profit $5.24 million. Controlled expenses led to an operating profit of $4.02 million and a net income of $3.48 million. The cash balance rose to $4.13 million.</a:t>
          </a:r>
        </a:p>
      </dgm:t>
    </dgm:pt>
    <dgm:pt modelId="{3FB79EBD-336E-5441-81A8-BB61E0BBE1B1}" type="parTrans" cxnId="{38AA8728-FFD9-4642-99D5-AAA892ACC94F}">
      <dgm:prSet/>
      <dgm:spPr/>
      <dgm:t>
        <a:bodyPr/>
        <a:lstStyle/>
        <a:p>
          <a:endParaRPr lang="en-US"/>
        </a:p>
      </dgm:t>
    </dgm:pt>
    <dgm:pt modelId="{3B7A408A-9BCC-844F-A435-8C1A8EB7D7F9}" type="sibTrans" cxnId="{38AA8728-FFD9-4642-99D5-AAA892ACC94F}">
      <dgm:prSet/>
      <dgm:spPr/>
      <dgm:t>
        <a:bodyPr/>
        <a:lstStyle/>
        <a:p>
          <a:endParaRPr lang="en-US"/>
        </a:p>
      </dgm:t>
    </dgm:pt>
    <dgm:pt modelId="{1C7E4437-4F0A-A542-9044-6F5ED2B2C9D5}" type="pres">
      <dgm:prSet presAssocID="{E24911FA-12FA-4CFF-A6C2-113161DE0B1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7FD2163-6594-D34A-9F83-B52D0F09D7CB}" type="pres">
      <dgm:prSet presAssocID="{0B0D4CDA-531C-470C-99F8-3D35722FC954}" presName="hierRoot1" presStyleCnt="0"/>
      <dgm:spPr/>
    </dgm:pt>
    <dgm:pt modelId="{297DEB3D-0108-7640-A381-957DC1CC2B8C}" type="pres">
      <dgm:prSet presAssocID="{0B0D4CDA-531C-470C-99F8-3D35722FC954}" presName="composite" presStyleCnt="0"/>
      <dgm:spPr/>
    </dgm:pt>
    <dgm:pt modelId="{D2C6F0CA-13D6-A444-8F90-FEF9428188D1}" type="pres">
      <dgm:prSet presAssocID="{0B0D4CDA-531C-470C-99F8-3D35722FC954}" presName="background" presStyleLbl="node0" presStyleIdx="0" presStyleCnt="2"/>
      <dgm:spPr/>
    </dgm:pt>
    <dgm:pt modelId="{EC48C08F-E6BF-BA4E-B236-5130825737C3}" type="pres">
      <dgm:prSet presAssocID="{0B0D4CDA-531C-470C-99F8-3D35722FC954}" presName="text" presStyleLbl="fgAcc0" presStyleIdx="0" presStyleCnt="2">
        <dgm:presLayoutVars>
          <dgm:chPref val="3"/>
        </dgm:presLayoutVars>
      </dgm:prSet>
      <dgm:spPr/>
    </dgm:pt>
    <dgm:pt modelId="{460ED6F4-A4F4-A540-B7E2-C4DEF8A1401B}" type="pres">
      <dgm:prSet presAssocID="{0B0D4CDA-531C-470C-99F8-3D35722FC954}" presName="hierChild2" presStyleCnt="0"/>
      <dgm:spPr/>
    </dgm:pt>
    <dgm:pt modelId="{366BC1D7-32BB-B341-8834-24594D068347}" type="pres">
      <dgm:prSet presAssocID="{357CC928-5DE3-DB49-89AC-588A20D06DE1}" presName="hierRoot1" presStyleCnt="0"/>
      <dgm:spPr/>
    </dgm:pt>
    <dgm:pt modelId="{986F39DB-A794-0E4A-8680-A6A2B6C5CF8A}" type="pres">
      <dgm:prSet presAssocID="{357CC928-5DE3-DB49-89AC-588A20D06DE1}" presName="composite" presStyleCnt="0"/>
      <dgm:spPr/>
    </dgm:pt>
    <dgm:pt modelId="{17134675-9517-C54C-A509-AE9CA05C04B2}" type="pres">
      <dgm:prSet presAssocID="{357CC928-5DE3-DB49-89AC-588A20D06DE1}" presName="background" presStyleLbl="node0" presStyleIdx="1" presStyleCnt="2"/>
      <dgm:spPr/>
    </dgm:pt>
    <dgm:pt modelId="{3F7D4E7F-0AAC-3943-BAEB-D4FA4A08EBAC}" type="pres">
      <dgm:prSet presAssocID="{357CC928-5DE3-DB49-89AC-588A20D06DE1}" presName="text" presStyleLbl="fgAcc0" presStyleIdx="1" presStyleCnt="2">
        <dgm:presLayoutVars>
          <dgm:chPref val="3"/>
        </dgm:presLayoutVars>
      </dgm:prSet>
      <dgm:spPr/>
    </dgm:pt>
    <dgm:pt modelId="{B61BFC2F-7D0F-5B47-8C7B-24971047511C}" type="pres">
      <dgm:prSet presAssocID="{357CC928-5DE3-DB49-89AC-588A20D06DE1}" presName="hierChild2" presStyleCnt="0"/>
      <dgm:spPr/>
    </dgm:pt>
  </dgm:ptLst>
  <dgm:cxnLst>
    <dgm:cxn modelId="{38AA8728-FFD9-4642-99D5-AAA892ACC94F}" srcId="{E24911FA-12FA-4CFF-A6C2-113161DE0B16}" destId="{357CC928-5DE3-DB49-89AC-588A20D06DE1}" srcOrd="1" destOrd="0" parTransId="{3FB79EBD-336E-5441-81A8-BB61E0BBE1B1}" sibTransId="{3B7A408A-9BCC-844F-A435-8C1A8EB7D7F9}"/>
    <dgm:cxn modelId="{E5B22463-5A26-47A2-B605-D66A79E87BDE}" srcId="{E24911FA-12FA-4CFF-A6C2-113161DE0B16}" destId="{0B0D4CDA-531C-470C-99F8-3D35722FC954}" srcOrd="0" destOrd="0" parTransId="{B5F940B7-9A39-4A73-9F10-CD0763EF417E}" sibTransId="{52847C07-691E-4504-BC08-80A2A6D27C8D}"/>
    <dgm:cxn modelId="{0B903C51-0292-8B4D-ABFE-73BA7E990BD5}" type="presOf" srcId="{357CC928-5DE3-DB49-89AC-588A20D06DE1}" destId="{3F7D4E7F-0AAC-3943-BAEB-D4FA4A08EBAC}" srcOrd="0" destOrd="0" presId="urn:microsoft.com/office/officeart/2005/8/layout/hierarchy1"/>
    <dgm:cxn modelId="{A32BABED-6352-5640-82D8-978EA899E2CF}" type="presOf" srcId="{E24911FA-12FA-4CFF-A6C2-113161DE0B16}" destId="{1C7E4437-4F0A-A542-9044-6F5ED2B2C9D5}" srcOrd="0" destOrd="0" presId="urn:microsoft.com/office/officeart/2005/8/layout/hierarchy1"/>
    <dgm:cxn modelId="{3F986FFA-0EF3-8F4D-9437-7081465B0BA5}" type="presOf" srcId="{0B0D4CDA-531C-470C-99F8-3D35722FC954}" destId="{EC48C08F-E6BF-BA4E-B236-5130825737C3}" srcOrd="0" destOrd="0" presId="urn:microsoft.com/office/officeart/2005/8/layout/hierarchy1"/>
    <dgm:cxn modelId="{0DF3B04D-AF04-D743-BF31-E6EFFC1395B3}" type="presParOf" srcId="{1C7E4437-4F0A-A542-9044-6F5ED2B2C9D5}" destId="{67FD2163-6594-D34A-9F83-B52D0F09D7CB}" srcOrd="0" destOrd="0" presId="urn:microsoft.com/office/officeart/2005/8/layout/hierarchy1"/>
    <dgm:cxn modelId="{E88EF8DC-A975-8F48-B9D6-EA03F9ABD729}" type="presParOf" srcId="{67FD2163-6594-D34A-9F83-B52D0F09D7CB}" destId="{297DEB3D-0108-7640-A381-957DC1CC2B8C}" srcOrd="0" destOrd="0" presId="urn:microsoft.com/office/officeart/2005/8/layout/hierarchy1"/>
    <dgm:cxn modelId="{6FFFDC11-10A5-6C44-99D3-934C08F227C8}" type="presParOf" srcId="{297DEB3D-0108-7640-A381-957DC1CC2B8C}" destId="{D2C6F0CA-13D6-A444-8F90-FEF9428188D1}" srcOrd="0" destOrd="0" presId="urn:microsoft.com/office/officeart/2005/8/layout/hierarchy1"/>
    <dgm:cxn modelId="{1DA81204-94D4-C84A-B581-DD55124E1AD9}" type="presParOf" srcId="{297DEB3D-0108-7640-A381-957DC1CC2B8C}" destId="{EC48C08F-E6BF-BA4E-B236-5130825737C3}" srcOrd="1" destOrd="0" presId="urn:microsoft.com/office/officeart/2005/8/layout/hierarchy1"/>
    <dgm:cxn modelId="{B1E2298D-9577-0443-80AC-05DCCAB3EC62}" type="presParOf" srcId="{67FD2163-6594-D34A-9F83-B52D0F09D7CB}" destId="{460ED6F4-A4F4-A540-B7E2-C4DEF8A1401B}" srcOrd="1" destOrd="0" presId="urn:microsoft.com/office/officeart/2005/8/layout/hierarchy1"/>
    <dgm:cxn modelId="{2890412C-61B4-0942-9A0C-1B94371D4EE6}" type="presParOf" srcId="{1C7E4437-4F0A-A542-9044-6F5ED2B2C9D5}" destId="{366BC1D7-32BB-B341-8834-24594D068347}" srcOrd="1" destOrd="0" presId="urn:microsoft.com/office/officeart/2005/8/layout/hierarchy1"/>
    <dgm:cxn modelId="{DAC8C3CD-C6F1-FF47-B72A-1DFF1ADB637F}" type="presParOf" srcId="{366BC1D7-32BB-B341-8834-24594D068347}" destId="{986F39DB-A794-0E4A-8680-A6A2B6C5CF8A}" srcOrd="0" destOrd="0" presId="urn:microsoft.com/office/officeart/2005/8/layout/hierarchy1"/>
    <dgm:cxn modelId="{734B8D03-7C9D-CB44-A360-8297B5BDC1DA}" type="presParOf" srcId="{986F39DB-A794-0E4A-8680-A6A2B6C5CF8A}" destId="{17134675-9517-C54C-A509-AE9CA05C04B2}" srcOrd="0" destOrd="0" presId="urn:microsoft.com/office/officeart/2005/8/layout/hierarchy1"/>
    <dgm:cxn modelId="{6899F84C-56CE-8B41-AB88-57DD8436C5BA}" type="presParOf" srcId="{986F39DB-A794-0E4A-8680-A6A2B6C5CF8A}" destId="{3F7D4E7F-0AAC-3943-BAEB-D4FA4A08EBAC}" srcOrd="1" destOrd="0" presId="urn:microsoft.com/office/officeart/2005/8/layout/hierarchy1"/>
    <dgm:cxn modelId="{66A5F51D-CA96-C24D-A1C2-E026DFAB6C59}" type="presParOf" srcId="{366BC1D7-32BB-B341-8834-24594D068347}" destId="{B61BFC2F-7D0F-5B47-8C7B-24971047511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52890D-A671-43C0-A338-DC09DFD0A61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2A8F395-EF48-454D-8FD4-EAEDA532ADAB}">
      <dgm:prSet/>
      <dgm:spPr/>
      <dgm:t>
        <a:bodyPr/>
        <a:lstStyle/>
        <a:p>
          <a:pPr>
            <a:defRPr cap="all"/>
          </a:pPr>
          <a:r>
            <a:rPr lang="en-US" b="1"/>
            <a:t>Product Line Enhancement</a:t>
          </a:r>
          <a:endParaRPr lang="en-US"/>
        </a:p>
      </dgm:t>
    </dgm:pt>
    <dgm:pt modelId="{DDD37F7A-7983-4FB3-9C61-AD8336217603}" type="parTrans" cxnId="{33C3F322-D0C6-40A7-9858-402D6851F378}">
      <dgm:prSet/>
      <dgm:spPr/>
      <dgm:t>
        <a:bodyPr/>
        <a:lstStyle/>
        <a:p>
          <a:endParaRPr lang="en-US"/>
        </a:p>
      </dgm:t>
    </dgm:pt>
    <dgm:pt modelId="{F143EED5-4919-466A-BB67-EBBF3FF14DE0}" type="sibTrans" cxnId="{33C3F322-D0C6-40A7-9858-402D6851F378}">
      <dgm:prSet/>
      <dgm:spPr/>
      <dgm:t>
        <a:bodyPr/>
        <a:lstStyle/>
        <a:p>
          <a:endParaRPr lang="en-US"/>
        </a:p>
      </dgm:t>
    </dgm:pt>
    <dgm:pt modelId="{08C246F1-43AD-4BA5-8BBA-69B84627052C}">
      <dgm:prSet/>
      <dgm:spPr/>
      <dgm:t>
        <a:bodyPr/>
        <a:lstStyle/>
        <a:p>
          <a:pPr>
            <a:defRPr cap="all"/>
          </a:pPr>
          <a:r>
            <a:rPr lang="en-US" b="1"/>
            <a:t>Expansion Plans</a:t>
          </a:r>
          <a:endParaRPr lang="en-US"/>
        </a:p>
      </dgm:t>
    </dgm:pt>
    <dgm:pt modelId="{1723A197-7BA3-48A7-A9BC-2F71173635F2}" type="parTrans" cxnId="{F0DEC49C-7F62-48A2-AA5B-A6BB5BC8ECDF}">
      <dgm:prSet/>
      <dgm:spPr/>
      <dgm:t>
        <a:bodyPr/>
        <a:lstStyle/>
        <a:p>
          <a:endParaRPr lang="en-US"/>
        </a:p>
      </dgm:t>
    </dgm:pt>
    <dgm:pt modelId="{C115CFD5-E13A-4536-8D32-AC0B32B9070A}" type="sibTrans" cxnId="{F0DEC49C-7F62-48A2-AA5B-A6BB5BC8ECDF}">
      <dgm:prSet/>
      <dgm:spPr/>
      <dgm:t>
        <a:bodyPr/>
        <a:lstStyle/>
        <a:p>
          <a:endParaRPr lang="en-US"/>
        </a:p>
      </dgm:t>
    </dgm:pt>
    <dgm:pt modelId="{29ED0D19-AC18-4BD4-9588-327DD2718424}">
      <dgm:prSet/>
      <dgm:spPr/>
      <dgm:t>
        <a:bodyPr/>
        <a:lstStyle/>
        <a:p>
          <a:pPr>
            <a:defRPr cap="all"/>
          </a:pPr>
          <a:r>
            <a:rPr lang="en-US" b="1"/>
            <a:t>Market Growth</a:t>
          </a:r>
          <a:endParaRPr lang="en-US"/>
        </a:p>
      </dgm:t>
    </dgm:pt>
    <dgm:pt modelId="{07AD59E4-8C6F-4334-BBA3-E54695D4ED45}" type="parTrans" cxnId="{25BB0D9D-A0EB-434A-AC4D-3EACDE665D8E}">
      <dgm:prSet/>
      <dgm:spPr/>
      <dgm:t>
        <a:bodyPr/>
        <a:lstStyle/>
        <a:p>
          <a:endParaRPr lang="en-US"/>
        </a:p>
      </dgm:t>
    </dgm:pt>
    <dgm:pt modelId="{6299EFB5-1550-4B3E-949D-7273B8551B6D}" type="sibTrans" cxnId="{25BB0D9D-A0EB-434A-AC4D-3EACDE665D8E}">
      <dgm:prSet/>
      <dgm:spPr/>
      <dgm:t>
        <a:bodyPr/>
        <a:lstStyle/>
        <a:p>
          <a:endParaRPr lang="en-US"/>
        </a:p>
      </dgm:t>
    </dgm:pt>
    <dgm:pt modelId="{9AA0D483-D99B-46B9-8754-6756D0474434}">
      <dgm:prSet/>
      <dgm:spPr/>
      <dgm:t>
        <a:bodyPr/>
        <a:lstStyle/>
        <a:p>
          <a:pPr>
            <a:defRPr cap="all"/>
          </a:pPr>
          <a:r>
            <a:rPr lang="en-US" b="1"/>
            <a:t>Retail Partnerships</a:t>
          </a:r>
          <a:endParaRPr lang="en-US"/>
        </a:p>
      </dgm:t>
    </dgm:pt>
    <dgm:pt modelId="{66CF51F5-DAC5-447C-BFA3-3179838F9E37}" type="parTrans" cxnId="{3E183F9D-2759-4CCE-939D-121C99360974}">
      <dgm:prSet/>
      <dgm:spPr/>
      <dgm:t>
        <a:bodyPr/>
        <a:lstStyle/>
        <a:p>
          <a:endParaRPr lang="en-US"/>
        </a:p>
      </dgm:t>
    </dgm:pt>
    <dgm:pt modelId="{AF9E1372-5DEE-4B37-8475-E87054080374}" type="sibTrans" cxnId="{3E183F9D-2759-4CCE-939D-121C99360974}">
      <dgm:prSet/>
      <dgm:spPr/>
      <dgm:t>
        <a:bodyPr/>
        <a:lstStyle/>
        <a:p>
          <a:endParaRPr lang="en-US"/>
        </a:p>
      </dgm:t>
    </dgm:pt>
    <dgm:pt modelId="{12871FCC-52B4-49A5-9A5B-3A167EB9BFC3}" type="pres">
      <dgm:prSet presAssocID="{6652890D-A671-43C0-A338-DC09DFD0A614}" presName="root" presStyleCnt="0">
        <dgm:presLayoutVars>
          <dgm:dir/>
          <dgm:resizeHandles val="exact"/>
        </dgm:presLayoutVars>
      </dgm:prSet>
      <dgm:spPr/>
    </dgm:pt>
    <dgm:pt modelId="{29D408FF-8207-4772-B154-0BAD3F60663C}" type="pres">
      <dgm:prSet presAssocID="{12A8F395-EF48-454D-8FD4-EAEDA532ADAB}" presName="compNode" presStyleCnt="0"/>
      <dgm:spPr/>
    </dgm:pt>
    <dgm:pt modelId="{FF60E9F2-EC25-4564-91CC-463DA80F30F8}" type="pres">
      <dgm:prSet presAssocID="{12A8F395-EF48-454D-8FD4-EAEDA532ADAB}" presName="iconBgRect" presStyleLbl="bgShp" presStyleIdx="0" presStyleCnt="4"/>
      <dgm:spPr/>
    </dgm:pt>
    <dgm:pt modelId="{CBAD64B9-AEBA-498F-8586-D5D4F630383E}" type="pres">
      <dgm:prSet presAssocID="{12A8F395-EF48-454D-8FD4-EAEDA532ADA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B74DC7B-D986-401B-906D-1162A1F38604}" type="pres">
      <dgm:prSet presAssocID="{12A8F395-EF48-454D-8FD4-EAEDA532ADAB}" presName="spaceRect" presStyleCnt="0"/>
      <dgm:spPr/>
    </dgm:pt>
    <dgm:pt modelId="{54CC8D71-FC6B-4920-BA28-D384071408B0}" type="pres">
      <dgm:prSet presAssocID="{12A8F395-EF48-454D-8FD4-EAEDA532ADAB}" presName="textRect" presStyleLbl="revTx" presStyleIdx="0" presStyleCnt="4">
        <dgm:presLayoutVars>
          <dgm:chMax val="1"/>
          <dgm:chPref val="1"/>
        </dgm:presLayoutVars>
      </dgm:prSet>
      <dgm:spPr/>
    </dgm:pt>
    <dgm:pt modelId="{0CC65272-BB81-484B-A52B-94B269F07972}" type="pres">
      <dgm:prSet presAssocID="{F143EED5-4919-466A-BB67-EBBF3FF14DE0}" presName="sibTrans" presStyleCnt="0"/>
      <dgm:spPr/>
    </dgm:pt>
    <dgm:pt modelId="{78410851-DCCB-463C-9D88-EB44296D0A9B}" type="pres">
      <dgm:prSet presAssocID="{08C246F1-43AD-4BA5-8BBA-69B84627052C}" presName="compNode" presStyleCnt="0"/>
      <dgm:spPr/>
    </dgm:pt>
    <dgm:pt modelId="{42F02852-5707-4532-BFB0-D0FDCDA7D993}" type="pres">
      <dgm:prSet presAssocID="{08C246F1-43AD-4BA5-8BBA-69B84627052C}" presName="iconBgRect" presStyleLbl="bgShp" presStyleIdx="1" presStyleCnt="4"/>
      <dgm:spPr/>
    </dgm:pt>
    <dgm:pt modelId="{C0CA4BD8-937A-49CD-BFDF-81627ED17F84}" type="pres">
      <dgm:prSet presAssocID="{08C246F1-43AD-4BA5-8BBA-69B84627052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70458DF-2542-4EBD-B92E-64FD2115A91F}" type="pres">
      <dgm:prSet presAssocID="{08C246F1-43AD-4BA5-8BBA-69B84627052C}" presName="spaceRect" presStyleCnt="0"/>
      <dgm:spPr/>
    </dgm:pt>
    <dgm:pt modelId="{D9CE6F47-8414-417C-99EB-57B1FCCF414E}" type="pres">
      <dgm:prSet presAssocID="{08C246F1-43AD-4BA5-8BBA-69B84627052C}" presName="textRect" presStyleLbl="revTx" presStyleIdx="1" presStyleCnt="4">
        <dgm:presLayoutVars>
          <dgm:chMax val="1"/>
          <dgm:chPref val="1"/>
        </dgm:presLayoutVars>
      </dgm:prSet>
      <dgm:spPr/>
    </dgm:pt>
    <dgm:pt modelId="{CE82D943-FD0B-4977-BAFC-765D023A2C05}" type="pres">
      <dgm:prSet presAssocID="{C115CFD5-E13A-4536-8D32-AC0B32B9070A}" presName="sibTrans" presStyleCnt="0"/>
      <dgm:spPr/>
    </dgm:pt>
    <dgm:pt modelId="{386F7836-7149-4164-8269-DA42E5D8C817}" type="pres">
      <dgm:prSet presAssocID="{29ED0D19-AC18-4BD4-9588-327DD2718424}" presName="compNode" presStyleCnt="0"/>
      <dgm:spPr/>
    </dgm:pt>
    <dgm:pt modelId="{67A667F1-7211-4483-B51D-30AE4E70A821}" type="pres">
      <dgm:prSet presAssocID="{29ED0D19-AC18-4BD4-9588-327DD2718424}" presName="iconBgRect" presStyleLbl="bgShp" presStyleIdx="2" presStyleCnt="4"/>
      <dgm:spPr/>
    </dgm:pt>
    <dgm:pt modelId="{DE6C1C76-10C0-4C0C-B822-B8FBAC113ECB}" type="pres">
      <dgm:prSet presAssocID="{29ED0D19-AC18-4BD4-9588-327DD271842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65007C76-F2AA-43BD-A05D-AD83AC95CE99}" type="pres">
      <dgm:prSet presAssocID="{29ED0D19-AC18-4BD4-9588-327DD2718424}" presName="spaceRect" presStyleCnt="0"/>
      <dgm:spPr/>
    </dgm:pt>
    <dgm:pt modelId="{EF939C3E-F1DD-4026-9CFB-B47CFD44C213}" type="pres">
      <dgm:prSet presAssocID="{29ED0D19-AC18-4BD4-9588-327DD2718424}" presName="textRect" presStyleLbl="revTx" presStyleIdx="2" presStyleCnt="4">
        <dgm:presLayoutVars>
          <dgm:chMax val="1"/>
          <dgm:chPref val="1"/>
        </dgm:presLayoutVars>
      </dgm:prSet>
      <dgm:spPr/>
    </dgm:pt>
    <dgm:pt modelId="{103FA020-0E4F-4710-8C4A-EA35FC48A151}" type="pres">
      <dgm:prSet presAssocID="{6299EFB5-1550-4B3E-949D-7273B8551B6D}" presName="sibTrans" presStyleCnt="0"/>
      <dgm:spPr/>
    </dgm:pt>
    <dgm:pt modelId="{86950A9F-66D8-44CD-862C-38CF97BF6D29}" type="pres">
      <dgm:prSet presAssocID="{9AA0D483-D99B-46B9-8754-6756D0474434}" presName="compNode" presStyleCnt="0"/>
      <dgm:spPr/>
    </dgm:pt>
    <dgm:pt modelId="{22D0093A-A368-46AF-96F6-397AED6FF07C}" type="pres">
      <dgm:prSet presAssocID="{9AA0D483-D99B-46B9-8754-6756D0474434}" presName="iconBgRect" presStyleLbl="bgShp" presStyleIdx="3" presStyleCnt="4"/>
      <dgm:spPr/>
    </dgm:pt>
    <dgm:pt modelId="{1E4A6E60-BB39-4F7A-ABB6-F33244965287}" type="pres">
      <dgm:prSet presAssocID="{9AA0D483-D99B-46B9-8754-6756D047443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68266F0B-95F3-49B9-A5FF-B3B47D12D2F1}" type="pres">
      <dgm:prSet presAssocID="{9AA0D483-D99B-46B9-8754-6756D0474434}" presName="spaceRect" presStyleCnt="0"/>
      <dgm:spPr/>
    </dgm:pt>
    <dgm:pt modelId="{62BB0294-DC2C-4D39-9C2A-80D694AC4CDE}" type="pres">
      <dgm:prSet presAssocID="{9AA0D483-D99B-46B9-8754-6756D047443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F5AE418-8E2A-48DF-B9CE-79B4BFECADF1}" type="presOf" srcId="{29ED0D19-AC18-4BD4-9588-327DD2718424}" destId="{EF939C3E-F1DD-4026-9CFB-B47CFD44C213}" srcOrd="0" destOrd="0" presId="urn:microsoft.com/office/officeart/2018/5/layout/IconCircleLabelList"/>
    <dgm:cxn modelId="{33C3F322-D0C6-40A7-9858-402D6851F378}" srcId="{6652890D-A671-43C0-A338-DC09DFD0A614}" destId="{12A8F395-EF48-454D-8FD4-EAEDA532ADAB}" srcOrd="0" destOrd="0" parTransId="{DDD37F7A-7983-4FB3-9C61-AD8336217603}" sibTransId="{F143EED5-4919-466A-BB67-EBBF3FF14DE0}"/>
    <dgm:cxn modelId="{17C46E24-329E-4AF6-A1FD-4334566ECA10}" type="presOf" srcId="{9AA0D483-D99B-46B9-8754-6756D0474434}" destId="{62BB0294-DC2C-4D39-9C2A-80D694AC4CDE}" srcOrd="0" destOrd="0" presId="urn:microsoft.com/office/officeart/2018/5/layout/IconCircleLabelList"/>
    <dgm:cxn modelId="{00405640-AFFB-4A29-918C-2F1E168E86CE}" type="presOf" srcId="{6652890D-A671-43C0-A338-DC09DFD0A614}" destId="{12871FCC-52B4-49A5-9A5B-3A167EB9BFC3}" srcOrd="0" destOrd="0" presId="urn:microsoft.com/office/officeart/2018/5/layout/IconCircleLabelList"/>
    <dgm:cxn modelId="{F0DEC49C-7F62-48A2-AA5B-A6BB5BC8ECDF}" srcId="{6652890D-A671-43C0-A338-DC09DFD0A614}" destId="{08C246F1-43AD-4BA5-8BBA-69B84627052C}" srcOrd="1" destOrd="0" parTransId="{1723A197-7BA3-48A7-A9BC-2F71173635F2}" sibTransId="{C115CFD5-E13A-4536-8D32-AC0B32B9070A}"/>
    <dgm:cxn modelId="{25BB0D9D-A0EB-434A-AC4D-3EACDE665D8E}" srcId="{6652890D-A671-43C0-A338-DC09DFD0A614}" destId="{29ED0D19-AC18-4BD4-9588-327DD2718424}" srcOrd="2" destOrd="0" parTransId="{07AD59E4-8C6F-4334-BBA3-E54695D4ED45}" sibTransId="{6299EFB5-1550-4B3E-949D-7273B8551B6D}"/>
    <dgm:cxn modelId="{3E183F9D-2759-4CCE-939D-121C99360974}" srcId="{6652890D-A671-43C0-A338-DC09DFD0A614}" destId="{9AA0D483-D99B-46B9-8754-6756D0474434}" srcOrd="3" destOrd="0" parTransId="{66CF51F5-DAC5-447C-BFA3-3179838F9E37}" sibTransId="{AF9E1372-5DEE-4B37-8475-E87054080374}"/>
    <dgm:cxn modelId="{27617EA2-9D36-475E-AB71-3D0D95569BC8}" type="presOf" srcId="{12A8F395-EF48-454D-8FD4-EAEDA532ADAB}" destId="{54CC8D71-FC6B-4920-BA28-D384071408B0}" srcOrd="0" destOrd="0" presId="urn:microsoft.com/office/officeart/2018/5/layout/IconCircleLabelList"/>
    <dgm:cxn modelId="{2DF44CB9-BE5B-4E32-95A1-149994B96CF7}" type="presOf" srcId="{08C246F1-43AD-4BA5-8BBA-69B84627052C}" destId="{D9CE6F47-8414-417C-99EB-57B1FCCF414E}" srcOrd="0" destOrd="0" presId="urn:microsoft.com/office/officeart/2018/5/layout/IconCircleLabelList"/>
    <dgm:cxn modelId="{5EFA2749-34E3-4405-929F-FFFBA9AB0355}" type="presParOf" srcId="{12871FCC-52B4-49A5-9A5B-3A167EB9BFC3}" destId="{29D408FF-8207-4772-B154-0BAD3F60663C}" srcOrd="0" destOrd="0" presId="urn:microsoft.com/office/officeart/2018/5/layout/IconCircleLabelList"/>
    <dgm:cxn modelId="{39D0C63C-363E-4B44-B98F-786526C46A44}" type="presParOf" srcId="{29D408FF-8207-4772-B154-0BAD3F60663C}" destId="{FF60E9F2-EC25-4564-91CC-463DA80F30F8}" srcOrd="0" destOrd="0" presId="urn:microsoft.com/office/officeart/2018/5/layout/IconCircleLabelList"/>
    <dgm:cxn modelId="{2B2028C9-E0D0-4C3B-B27D-4C121965BB68}" type="presParOf" srcId="{29D408FF-8207-4772-B154-0BAD3F60663C}" destId="{CBAD64B9-AEBA-498F-8586-D5D4F630383E}" srcOrd="1" destOrd="0" presId="urn:microsoft.com/office/officeart/2018/5/layout/IconCircleLabelList"/>
    <dgm:cxn modelId="{6AD2E82E-B6BF-41BE-A5FA-62720195181C}" type="presParOf" srcId="{29D408FF-8207-4772-B154-0BAD3F60663C}" destId="{AB74DC7B-D986-401B-906D-1162A1F38604}" srcOrd="2" destOrd="0" presId="urn:microsoft.com/office/officeart/2018/5/layout/IconCircleLabelList"/>
    <dgm:cxn modelId="{588185FE-73C2-4A52-813D-205436FA1BC8}" type="presParOf" srcId="{29D408FF-8207-4772-B154-0BAD3F60663C}" destId="{54CC8D71-FC6B-4920-BA28-D384071408B0}" srcOrd="3" destOrd="0" presId="urn:microsoft.com/office/officeart/2018/5/layout/IconCircleLabelList"/>
    <dgm:cxn modelId="{89ADCDFD-D8A5-4C39-99E8-F126DC44E44E}" type="presParOf" srcId="{12871FCC-52B4-49A5-9A5B-3A167EB9BFC3}" destId="{0CC65272-BB81-484B-A52B-94B269F07972}" srcOrd="1" destOrd="0" presId="urn:microsoft.com/office/officeart/2018/5/layout/IconCircleLabelList"/>
    <dgm:cxn modelId="{1FED6FB3-D8E3-4C48-B126-9EA78B0DBA75}" type="presParOf" srcId="{12871FCC-52B4-49A5-9A5B-3A167EB9BFC3}" destId="{78410851-DCCB-463C-9D88-EB44296D0A9B}" srcOrd="2" destOrd="0" presId="urn:microsoft.com/office/officeart/2018/5/layout/IconCircleLabelList"/>
    <dgm:cxn modelId="{615F6C97-24E3-439E-8227-E7209BE19B3F}" type="presParOf" srcId="{78410851-DCCB-463C-9D88-EB44296D0A9B}" destId="{42F02852-5707-4532-BFB0-D0FDCDA7D993}" srcOrd="0" destOrd="0" presId="urn:microsoft.com/office/officeart/2018/5/layout/IconCircleLabelList"/>
    <dgm:cxn modelId="{70AF60DD-CB9E-44CD-8B92-58A9A33598F9}" type="presParOf" srcId="{78410851-DCCB-463C-9D88-EB44296D0A9B}" destId="{C0CA4BD8-937A-49CD-BFDF-81627ED17F84}" srcOrd="1" destOrd="0" presId="urn:microsoft.com/office/officeart/2018/5/layout/IconCircleLabelList"/>
    <dgm:cxn modelId="{F9744B5B-E47E-4EC3-856A-A170A59B97E4}" type="presParOf" srcId="{78410851-DCCB-463C-9D88-EB44296D0A9B}" destId="{770458DF-2542-4EBD-B92E-64FD2115A91F}" srcOrd="2" destOrd="0" presId="urn:microsoft.com/office/officeart/2018/5/layout/IconCircleLabelList"/>
    <dgm:cxn modelId="{1B7A552B-660C-416D-9DC8-A261DE6FC421}" type="presParOf" srcId="{78410851-DCCB-463C-9D88-EB44296D0A9B}" destId="{D9CE6F47-8414-417C-99EB-57B1FCCF414E}" srcOrd="3" destOrd="0" presId="urn:microsoft.com/office/officeart/2018/5/layout/IconCircleLabelList"/>
    <dgm:cxn modelId="{4873B058-F5B6-4EB7-A92C-9195C2E00470}" type="presParOf" srcId="{12871FCC-52B4-49A5-9A5B-3A167EB9BFC3}" destId="{CE82D943-FD0B-4977-BAFC-765D023A2C05}" srcOrd="3" destOrd="0" presId="urn:microsoft.com/office/officeart/2018/5/layout/IconCircleLabelList"/>
    <dgm:cxn modelId="{8E8896D5-483E-4698-9606-ECD8B13EF001}" type="presParOf" srcId="{12871FCC-52B4-49A5-9A5B-3A167EB9BFC3}" destId="{386F7836-7149-4164-8269-DA42E5D8C817}" srcOrd="4" destOrd="0" presId="urn:microsoft.com/office/officeart/2018/5/layout/IconCircleLabelList"/>
    <dgm:cxn modelId="{B4C5D857-7DA6-4980-A6A8-B1F00BF97DDB}" type="presParOf" srcId="{386F7836-7149-4164-8269-DA42E5D8C817}" destId="{67A667F1-7211-4483-B51D-30AE4E70A821}" srcOrd="0" destOrd="0" presId="urn:microsoft.com/office/officeart/2018/5/layout/IconCircleLabelList"/>
    <dgm:cxn modelId="{2140E88E-1F85-4114-9896-5C694ED737CF}" type="presParOf" srcId="{386F7836-7149-4164-8269-DA42E5D8C817}" destId="{DE6C1C76-10C0-4C0C-B822-B8FBAC113ECB}" srcOrd="1" destOrd="0" presId="urn:microsoft.com/office/officeart/2018/5/layout/IconCircleLabelList"/>
    <dgm:cxn modelId="{A2750F65-1006-480A-9C4D-D202702A932A}" type="presParOf" srcId="{386F7836-7149-4164-8269-DA42E5D8C817}" destId="{65007C76-F2AA-43BD-A05D-AD83AC95CE99}" srcOrd="2" destOrd="0" presId="urn:microsoft.com/office/officeart/2018/5/layout/IconCircleLabelList"/>
    <dgm:cxn modelId="{79D9B7A5-2837-4601-BBFD-18C93278EEF9}" type="presParOf" srcId="{386F7836-7149-4164-8269-DA42E5D8C817}" destId="{EF939C3E-F1DD-4026-9CFB-B47CFD44C213}" srcOrd="3" destOrd="0" presId="urn:microsoft.com/office/officeart/2018/5/layout/IconCircleLabelList"/>
    <dgm:cxn modelId="{DA89A12A-8EE1-436D-9D23-A72AD09BC97D}" type="presParOf" srcId="{12871FCC-52B4-49A5-9A5B-3A167EB9BFC3}" destId="{103FA020-0E4F-4710-8C4A-EA35FC48A151}" srcOrd="5" destOrd="0" presId="urn:microsoft.com/office/officeart/2018/5/layout/IconCircleLabelList"/>
    <dgm:cxn modelId="{D090047D-FFEE-4988-8512-8F6DBD54DD94}" type="presParOf" srcId="{12871FCC-52B4-49A5-9A5B-3A167EB9BFC3}" destId="{86950A9F-66D8-44CD-862C-38CF97BF6D29}" srcOrd="6" destOrd="0" presId="urn:microsoft.com/office/officeart/2018/5/layout/IconCircleLabelList"/>
    <dgm:cxn modelId="{19BB3B56-76B5-4B56-8710-59B3B3494779}" type="presParOf" srcId="{86950A9F-66D8-44CD-862C-38CF97BF6D29}" destId="{22D0093A-A368-46AF-96F6-397AED6FF07C}" srcOrd="0" destOrd="0" presId="urn:microsoft.com/office/officeart/2018/5/layout/IconCircleLabelList"/>
    <dgm:cxn modelId="{6FDD8109-112A-4341-9D51-49A05D1B14D1}" type="presParOf" srcId="{86950A9F-66D8-44CD-862C-38CF97BF6D29}" destId="{1E4A6E60-BB39-4F7A-ABB6-F33244965287}" srcOrd="1" destOrd="0" presId="urn:microsoft.com/office/officeart/2018/5/layout/IconCircleLabelList"/>
    <dgm:cxn modelId="{ADABBCF4-2E7C-40C5-BAE8-0630A32ED676}" type="presParOf" srcId="{86950A9F-66D8-44CD-862C-38CF97BF6D29}" destId="{68266F0B-95F3-49B9-A5FF-B3B47D12D2F1}" srcOrd="2" destOrd="0" presId="urn:microsoft.com/office/officeart/2018/5/layout/IconCircleLabelList"/>
    <dgm:cxn modelId="{C565DD09-189F-4253-A4F2-57C40CA17435}" type="presParOf" srcId="{86950A9F-66D8-44CD-862C-38CF97BF6D29}" destId="{62BB0294-DC2C-4D39-9C2A-80D694AC4CD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4EE78EE-7041-4737-8D6D-8297E40F04C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D777F9C-C18F-4073-BE0F-CB78CB247759}">
      <dgm:prSet/>
      <dgm:spPr/>
      <dgm:t>
        <a:bodyPr/>
        <a:lstStyle/>
        <a:p>
          <a:pPr>
            <a:defRPr cap="all"/>
          </a:pPr>
          <a:r>
            <a:rPr lang="en-US"/>
            <a:t>Continuous improvement of bicycle lineup through both customer feedback and market analysis</a:t>
          </a:r>
        </a:p>
      </dgm:t>
    </dgm:pt>
    <dgm:pt modelId="{D87BB69C-0371-4065-BF5A-97B7A42143FC}" type="parTrans" cxnId="{9D2CD66F-11D0-4F2C-BAE4-898112CDAD31}">
      <dgm:prSet/>
      <dgm:spPr/>
      <dgm:t>
        <a:bodyPr/>
        <a:lstStyle/>
        <a:p>
          <a:endParaRPr lang="en-US"/>
        </a:p>
      </dgm:t>
    </dgm:pt>
    <dgm:pt modelId="{B85404A3-FF40-470B-8E43-52455692818E}" type="sibTrans" cxnId="{9D2CD66F-11D0-4F2C-BAE4-898112CDAD31}">
      <dgm:prSet/>
      <dgm:spPr/>
      <dgm:t>
        <a:bodyPr/>
        <a:lstStyle/>
        <a:p>
          <a:endParaRPr lang="en-US"/>
        </a:p>
      </dgm:t>
    </dgm:pt>
    <dgm:pt modelId="{D0282B22-F843-4D01-9869-D4D0027D3EF1}">
      <dgm:prSet/>
      <dgm:spPr/>
      <dgm:t>
        <a:bodyPr/>
        <a:lstStyle/>
        <a:p>
          <a:pPr>
            <a:defRPr cap="all"/>
          </a:pPr>
          <a:r>
            <a:rPr lang="en-US"/>
            <a:t>Data Driven Decisions will enhance market performance</a:t>
          </a:r>
        </a:p>
      </dgm:t>
    </dgm:pt>
    <dgm:pt modelId="{177960B5-2DFE-45F0-9B78-EC7F24F87ADF}" type="parTrans" cxnId="{8024CA18-521F-44E0-8A0A-4196C8196835}">
      <dgm:prSet/>
      <dgm:spPr/>
      <dgm:t>
        <a:bodyPr/>
        <a:lstStyle/>
        <a:p>
          <a:endParaRPr lang="en-US"/>
        </a:p>
      </dgm:t>
    </dgm:pt>
    <dgm:pt modelId="{4ED2A6EA-0709-42DB-AEBC-AB25A40A8BEB}" type="sibTrans" cxnId="{8024CA18-521F-44E0-8A0A-4196C8196835}">
      <dgm:prSet/>
      <dgm:spPr/>
      <dgm:t>
        <a:bodyPr/>
        <a:lstStyle/>
        <a:p>
          <a:endParaRPr lang="en-US"/>
        </a:p>
      </dgm:t>
    </dgm:pt>
    <dgm:pt modelId="{70EF0466-A538-46C1-855E-0D654859E447}" type="pres">
      <dgm:prSet presAssocID="{D4EE78EE-7041-4737-8D6D-8297E40F04C2}" presName="root" presStyleCnt="0">
        <dgm:presLayoutVars>
          <dgm:dir/>
          <dgm:resizeHandles val="exact"/>
        </dgm:presLayoutVars>
      </dgm:prSet>
      <dgm:spPr/>
    </dgm:pt>
    <dgm:pt modelId="{5EE26E64-9A6A-41AB-8218-FC2ABBB67612}" type="pres">
      <dgm:prSet presAssocID="{3D777F9C-C18F-4073-BE0F-CB78CB247759}" presName="compNode" presStyleCnt="0"/>
      <dgm:spPr/>
    </dgm:pt>
    <dgm:pt modelId="{BBC481B4-96CD-4115-AC94-13BD550DD970}" type="pres">
      <dgm:prSet presAssocID="{3D777F9C-C18F-4073-BE0F-CB78CB247759}" presName="iconBgRect" presStyleLbl="bgShp" presStyleIdx="0" presStyleCnt="2"/>
      <dgm:spPr/>
    </dgm:pt>
    <dgm:pt modelId="{146BC709-4C83-4EC6-BCFE-13DE8395E15E}" type="pres">
      <dgm:prSet presAssocID="{3D777F9C-C18F-4073-BE0F-CB78CB24775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ke"/>
        </a:ext>
      </dgm:extLst>
    </dgm:pt>
    <dgm:pt modelId="{E2371345-82D9-459D-854B-492D59916D08}" type="pres">
      <dgm:prSet presAssocID="{3D777F9C-C18F-4073-BE0F-CB78CB247759}" presName="spaceRect" presStyleCnt="0"/>
      <dgm:spPr/>
    </dgm:pt>
    <dgm:pt modelId="{60CF7C68-F6D0-4113-A5DE-CAF7285D92C1}" type="pres">
      <dgm:prSet presAssocID="{3D777F9C-C18F-4073-BE0F-CB78CB247759}" presName="textRect" presStyleLbl="revTx" presStyleIdx="0" presStyleCnt="2">
        <dgm:presLayoutVars>
          <dgm:chMax val="1"/>
          <dgm:chPref val="1"/>
        </dgm:presLayoutVars>
      </dgm:prSet>
      <dgm:spPr/>
    </dgm:pt>
    <dgm:pt modelId="{6B92E069-6EDD-4D01-868D-D61AF5AD9B83}" type="pres">
      <dgm:prSet presAssocID="{B85404A3-FF40-470B-8E43-52455692818E}" presName="sibTrans" presStyleCnt="0"/>
      <dgm:spPr/>
    </dgm:pt>
    <dgm:pt modelId="{9D0E75E0-99AC-434B-BDE2-B53AB2BDE689}" type="pres">
      <dgm:prSet presAssocID="{D0282B22-F843-4D01-9869-D4D0027D3EF1}" presName="compNode" presStyleCnt="0"/>
      <dgm:spPr/>
    </dgm:pt>
    <dgm:pt modelId="{EC612E12-E478-45A6-95F4-7DB5BB367022}" type="pres">
      <dgm:prSet presAssocID="{D0282B22-F843-4D01-9869-D4D0027D3EF1}" presName="iconBgRect" presStyleLbl="bgShp" presStyleIdx="1" presStyleCnt="2"/>
      <dgm:spPr/>
    </dgm:pt>
    <dgm:pt modelId="{84BE26DB-5C16-4BC5-BAEB-4E3C618882FD}" type="pres">
      <dgm:prSet presAssocID="{D0282B22-F843-4D01-9869-D4D0027D3EF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644E9FE8-D09F-4458-8F97-955E50CB8842}" type="pres">
      <dgm:prSet presAssocID="{D0282B22-F843-4D01-9869-D4D0027D3EF1}" presName="spaceRect" presStyleCnt="0"/>
      <dgm:spPr/>
    </dgm:pt>
    <dgm:pt modelId="{5DC03108-3461-4444-91A7-BAEBD77A6CE5}" type="pres">
      <dgm:prSet presAssocID="{D0282B22-F843-4D01-9869-D4D0027D3EF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024CA18-521F-44E0-8A0A-4196C8196835}" srcId="{D4EE78EE-7041-4737-8D6D-8297E40F04C2}" destId="{D0282B22-F843-4D01-9869-D4D0027D3EF1}" srcOrd="1" destOrd="0" parTransId="{177960B5-2DFE-45F0-9B78-EC7F24F87ADF}" sibTransId="{4ED2A6EA-0709-42DB-AEBC-AB25A40A8BEB}"/>
    <dgm:cxn modelId="{2E66501D-2163-47DC-BD87-1DBF59CC7E6F}" type="presOf" srcId="{D0282B22-F843-4D01-9869-D4D0027D3EF1}" destId="{5DC03108-3461-4444-91A7-BAEBD77A6CE5}" srcOrd="0" destOrd="0" presId="urn:microsoft.com/office/officeart/2018/5/layout/IconCircleLabelList"/>
    <dgm:cxn modelId="{37918164-5443-486C-AE01-20124EC2922E}" type="presOf" srcId="{3D777F9C-C18F-4073-BE0F-CB78CB247759}" destId="{60CF7C68-F6D0-4113-A5DE-CAF7285D92C1}" srcOrd="0" destOrd="0" presId="urn:microsoft.com/office/officeart/2018/5/layout/IconCircleLabelList"/>
    <dgm:cxn modelId="{9D2CD66F-11D0-4F2C-BAE4-898112CDAD31}" srcId="{D4EE78EE-7041-4737-8D6D-8297E40F04C2}" destId="{3D777F9C-C18F-4073-BE0F-CB78CB247759}" srcOrd="0" destOrd="0" parTransId="{D87BB69C-0371-4065-BF5A-97B7A42143FC}" sibTransId="{B85404A3-FF40-470B-8E43-52455692818E}"/>
    <dgm:cxn modelId="{B5A5138E-BFBB-4C2C-8917-3EAE81E1B79F}" type="presOf" srcId="{D4EE78EE-7041-4737-8D6D-8297E40F04C2}" destId="{70EF0466-A538-46C1-855E-0D654859E447}" srcOrd="0" destOrd="0" presId="urn:microsoft.com/office/officeart/2018/5/layout/IconCircleLabelList"/>
    <dgm:cxn modelId="{4B8719B1-6C12-42D2-846E-09F00045D3D5}" type="presParOf" srcId="{70EF0466-A538-46C1-855E-0D654859E447}" destId="{5EE26E64-9A6A-41AB-8218-FC2ABBB67612}" srcOrd="0" destOrd="0" presId="urn:microsoft.com/office/officeart/2018/5/layout/IconCircleLabelList"/>
    <dgm:cxn modelId="{02673BD1-746B-4729-BE27-06351363E4DD}" type="presParOf" srcId="{5EE26E64-9A6A-41AB-8218-FC2ABBB67612}" destId="{BBC481B4-96CD-4115-AC94-13BD550DD970}" srcOrd="0" destOrd="0" presId="urn:microsoft.com/office/officeart/2018/5/layout/IconCircleLabelList"/>
    <dgm:cxn modelId="{0BB9C054-DACE-4CA5-8F4E-2D637C324098}" type="presParOf" srcId="{5EE26E64-9A6A-41AB-8218-FC2ABBB67612}" destId="{146BC709-4C83-4EC6-BCFE-13DE8395E15E}" srcOrd="1" destOrd="0" presId="urn:microsoft.com/office/officeart/2018/5/layout/IconCircleLabelList"/>
    <dgm:cxn modelId="{7268D1D5-BEC4-4BB1-A412-1C00D625DCCB}" type="presParOf" srcId="{5EE26E64-9A6A-41AB-8218-FC2ABBB67612}" destId="{E2371345-82D9-459D-854B-492D59916D08}" srcOrd="2" destOrd="0" presId="urn:microsoft.com/office/officeart/2018/5/layout/IconCircleLabelList"/>
    <dgm:cxn modelId="{E79F2386-AE27-4A05-89F7-34A0112689B5}" type="presParOf" srcId="{5EE26E64-9A6A-41AB-8218-FC2ABBB67612}" destId="{60CF7C68-F6D0-4113-A5DE-CAF7285D92C1}" srcOrd="3" destOrd="0" presId="urn:microsoft.com/office/officeart/2018/5/layout/IconCircleLabelList"/>
    <dgm:cxn modelId="{C6113968-D161-429E-99BD-4691D4B4190A}" type="presParOf" srcId="{70EF0466-A538-46C1-855E-0D654859E447}" destId="{6B92E069-6EDD-4D01-868D-D61AF5AD9B83}" srcOrd="1" destOrd="0" presId="urn:microsoft.com/office/officeart/2018/5/layout/IconCircleLabelList"/>
    <dgm:cxn modelId="{A2514FBD-9571-42E1-87A3-E8018F6BF249}" type="presParOf" srcId="{70EF0466-A538-46C1-855E-0D654859E447}" destId="{9D0E75E0-99AC-434B-BDE2-B53AB2BDE689}" srcOrd="2" destOrd="0" presId="urn:microsoft.com/office/officeart/2018/5/layout/IconCircleLabelList"/>
    <dgm:cxn modelId="{5998C01C-208C-4652-95DB-67474477D177}" type="presParOf" srcId="{9D0E75E0-99AC-434B-BDE2-B53AB2BDE689}" destId="{EC612E12-E478-45A6-95F4-7DB5BB367022}" srcOrd="0" destOrd="0" presId="urn:microsoft.com/office/officeart/2018/5/layout/IconCircleLabelList"/>
    <dgm:cxn modelId="{E9A03725-A818-42A1-B172-0ABC26CDA19C}" type="presParOf" srcId="{9D0E75E0-99AC-434B-BDE2-B53AB2BDE689}" destId="{84BE26DB-5C16-4BC5-BAEB-4E3C618882FD}" srcOrd="1" destOrd="0" presId="urn:microsoft.com/office/officeart/2018/5/layout/IconCircleLabelList"/>
    <dgm:cxn modelId="{80F24D4A-4D24-4B5A-8B40-0EB3AA7D2350}" type="presParOf" srcId="{9D0E75E0-99AC-434B-BDE2-B53AB2BDE689}" destId="{644E9FE8-D09F-4458-8F97-955E50CB8842}" srcOrd="2" destOrd="0" presId="urn:microsoft.com/office/officeart/2018/5/layout/IconCircleLabelList"/>
    <dgm:cxn modelId="{F9587DF5-ADC6-4F2F-BB54-AA4DDCBBF798}" type="presParOf" srcId="{9D0E75E0-99AC-434B-BDE2-B53AB2BDE689}" destId="{5DC03108-3461-4444-91A7-BAEBD77A6CE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446630D-053F-49C8-8EFF-610531C9799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53A4167-8AD5-4F25-A7FE-C60C6DC615D0}">
      <dgm:prSet/>
      <dgm:spPr/>
      <dgm:t>
        <a:bodyPr/>
        <a:lstStyle/>
        <a:p>
          <a:r>
            <a:rPr lang="en-US"/>
            <a:t>Currently selling 5 bike models with plans to introduce more for diverse market segments</a:t>
          </a:r>
        </a:p>
      </dgm:t>
    </dgm:pt>
    <dgm:pt modelId="{6D172CDC-1110-4746-BA17-30578167D293}" type="parTrans" cxnId="{19874724-0B38-48C3-ABCA-DADE2CD55F5E}">
      <dgm:prSet/>
      <dgm:spPr/>
      <dgm:t>
        <a:bodyPr/>
        <a:lstStyle/>
        <a:p>
          <a:endParaRPr lang="en-US"/>
        </a:p>
      </dgm:t>
    </dgm:pt>
    <dgm:pt modelId="{2B466005-3B52-479B-B49C-6E492CBFB197}" type="sibTrans" cxnId="{19874724-0B38-48C3-ABCA-DADE2CD55F5E}">
      <dgm:prSet/>
      <dgm:spPr/>
      <dgm:t>
        <a:bodyPr/>
        <a:lstStyle/>
        <a:p>
          <a:endParaRPr lang="en-US"/>
        </a:p>
      </dgm:t>
    </dgm:pt>
    <dgm:pt modelId="{7DFDE421-A32D-4BE7-A323-CA590139D25F}">
      <dgm:prSet/>
      <dgm:spPr/>
      <dgm:t>
        <a:bodyPr/>
        <a:lstStyle/>
        <a:p>
          <a:r>
            <a:rPr lang="en-US"/>
            <a:t>Target audience includes casual riders ,enthusiasts and professional cyclists</a:t>
          </a:r>
        </a:p>
      </dgm:t>
    </dgm:pt>
    <dgm:pt modelId="{EA2213BE-DA0D-4BE9-B66D-B1364F240EAF}" type="parTrans" cxnId="{F314263F-2068-4618-98D1-7A518145EE58}">
      <dgm:prSet/>
      <dgm:spPr/>
      <dgm:t>
        <a:bodyPr/>
        <a:lstStyle/>
        <a:p>
          <a:endParaRPr lang="en-US"/>
        </a:p>
      </dgm:t>
    </dgm:pt>
    <dgm:pt modelId="{55459CA4-EE20-4E06-ADB2-49BF16A0D9D2}" type="sibTrans" cxnId="{F314263F-2068-4618-98D1-7A518145EE58}">
      <dgm:prSet/>
      <dgm:spPr/>
      <dgm:t>
        <a:bodyPr/>
        <a:lstStyle/>
        <a:p>
          <a:endParaRPr lang="en-US"/>
        </a:p>
      </dgm:t>
    </dgm:pt>
    <dgm:pt modelId="{0D1BA040-1C77-4303-A039-0553B2E8B7B3}">
      <dgm:prSet/>
      <dgm:spPr/>
      <dgm:t>
        <a:bodyPr/>
        <a:lstStyle/>
        <a:p>
          <a:r>
            <a:rPr lang="en-US"/>
            <a:t>Effective expansion is shown in Q5 with new products BlazeRush Pro 2 and SmoothGlider </a:t>
          </a:r>
          <a:r>
            <a:rPr lang="en-US" b="1"/>
            <a:t>3.0</a:t>
          </a:r>
          <a:endParaRPr lang="en-US"/>
        </a:p>
      </dgm:t>
    </dgm:pt>
    <dgm:pt modelId="{0EC7A70F-47FB-4712-865C-44A2F5C2CE2B}" type="parTrans" cxnId="{C5EE74A8-C843-437D-AB75-89635422C9DA}">
      <dgm:prSet/>
      <dgm:spPr/>
      <dgm:t>
        <a:bodyPr/>
        <a:lstStyle/>
        <a:p>
          <a:endParaRPr lang="en-US"/>
        </a:p>
      </dgm:t>
    </dgm:pt>
    <dgm:pt modelId="{6A2AB577-D5C2-4967-A7B9-8553622DDA1E}" type="sibTrans" cxnId="{C5EE74A8-C843-437D-AB75-89635422C9DA}">
      <dgm:prSet/>
      <dgm:spPr/>
      <dgm:t>
        <a:bodyPr/>
        <a:lstStyle/>
        <a:p>
          <a:endParaRPr lang="en-US"/>
        </a:p>
      </dgm:t>
    </dgm:pt>
    <dgm:pt modelId="{84F2921B-8FF6-1E42-8220-9F499A081A6B}" type="pres">
      <dgm:prSet presAssocID="{6446630D-053F-49C8-8EFF-610531C9799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8E509FF-B0FB-6942-843F-AE6198BC7E5A}" type="pres">
      <dgm:prSet presAssocID="{A53A4167-8AD5-4F25-A7FE-C60C6DC615D0}" presName="hierRoot1" presStyleCnt="0"/>
      <dgm:spPr/>
    </dgm:pt>
    <dgm:pt modelId="{9C32A568-D42B-A447-8E96-76D1F78FBE72}" type="pres">
      <dgm:prSet presAssocID="{A53A4167-8AD5-4F25-A7FE-C60C6DC615D0}" presName="composite" presStyleCnt="0"/>
      <dgm:spPr/>
    </dgm:pt>
    <dgm:pt modelId="{063959EA-E0B7-564A-AAE1-D7C349358BE1}" type="pres">
      <dgm:prSet presAssocID="{A53A4167-8AD5-4F25-A7FE-C60C6DC615D0}" presName="background" presStyleLbl="node0" presStyleIdx="0" presStyleCnt="3"/>
      <dgm:spPr/>
    </dgm:pt>
    <dgm:pt modelId="{82F650AD-6E70-3E41-AAB0-57C78C9B9ECC}" type="pres">
      <dgm:prSet presAssocID="{A53A4167-8AD5-4F25-A7FE-C60C6DC615D0}" presName="text" presStyleLbl="fgAcc0" presStyleIdx="0" presStyleCnt="3">
        <dgm:presLayoutVars>
          <dgm:chPref val="3"/>
        </dgm:presLayoutVars>
      </dgm:prSet>
      <dgm:spPr/>
    </dgm:pt>
    <dgm:pt modelId="{176C78F5-321F-534C-A8F0-936562E28150}" type="pres">
      <dgm:prSet presAssocID="{A53A4167-8AD5-4F25-A7FE-C60C6DC615D0}" presName="hierChild2" presStyleCnt="0"/>
      <dgm:spPr/>
    </dgm:pt>
    <dgm:pt modelId="{8432E34D-1E93-9B44-98F1-39DB8685C069}" type="pres">
      <dgm:prSet presAssocID="{7DFDE421-A32D-4BE7-A323-CA590139D25F}" presName="hierRoot1" presStyleCnt="0"/>
      <dgm:spPr/>
    </dgm:pt>
    <dgm:pt modelId="{3747AE2D-5991-8845-A53A-0C508DFB7DA3}" type="pres">
      <dgm:prSet presAssocID="{7DFDE421-A32D-4BE7-A323-CA590139D25F}" presName="composite" presStyleCnt="0"/>
      <dgm:spPr/>
    </dgm:pt>
    <dgm:pt modelId="{99147387-09DB-E943-BD9E-12AB9C894A3D}" type="pres">
      <dgm:prSet presAssocID="{7DFDE421-A32D-4BE7-A323-CA590139D25F}" presName="background" presStyleLbl="node0" presStyleIdx="1" presStyleCnt="3"/>
      <dgm:spPr/>
    </dgm:pt>
    <dgm:pt modelId="{14E86540-EB76-3544-B8BC-F5806A1FF1C5}" type="pres">
      <dgm:prSet presAssocID="{7DFDE421-A32D-4BE7-A323-CA590139D25F}" presName="text" presStyleLbl="fgAcc0" presStyleIdx="1" presStyleCnt="3">
        <dgm:presLayoutVars>
          <dgm:chPref val="3"/>
        </dgm:presLayoutVars>
      </dgm:prSet>
      <dgm:spPr/>
    </dgm:pt>
    <dgm:pt modelId="{FF3A6816-2402-0B42-83DF-6341D8E269CA}" type="pres">
      <dgm:prSet presAssocID="{7DFDE421-A32D-4BE7-A323-CA590139D25F}" presName="hierChild2" presStyleCnt="0"/>
      <dgm:spPr/>
    </dgm:pt>
    <dgm:pt modelId="{2CA1C167-5800-F043-BCD1-DAA95D621082}" type="pres">
      <dgm:prSet presAssocID="{0D1BA040-1C77-4303-A039-0553B2E8B7B3}" presName="hierRoot1" presStyleCnt="0"/>
      <dgm:spPr/>
    </dgm:pt>
    <dgm:pt modelId="{7C0F3161-06FC-C14B-9BB4-5FB6F4AEA87E}" type="pres">
      <dgm:prSet presAssocID="{0D1BA040-1C77-4303-A039-0553B2E8B7B3}" presName="composite" presStyleCnt="0"/>
      <dgm:spPr/>
    </dgm:pt>
    <dgm:pt modelId="{F66FA766-E2FD-1F40-B6F0-F024E9F856C2}" type="pres">
      <dgm:prSet presAssocID="{0D1BA040-1C77-4303-A039-0553B2E8B7B3}" presName="background" presStyleLbl="node0" presStyleIdx="2" presStyleCnt="3"/>
      <dgm:spPr/>
    </dgm:pt>
    <dgm:pt modelId="{BA3C976B-B168-F745-917E-ED881CE3D41C}" type="pres">
      <dgm:prSet presAssocID="{0D1BA040-1C77-4303-A039-0553B2E8B7B3}" presName="text" presStyleLbl="fgAcc0" presStyleIdx="2" presStyleCnt="3">
        <dgm:presLayoutVars>
          <dgm:chPref val="3"/>
        </dgm:presLayoutVars>
      </dgm:prSet>
      <dgm:spPr/>
    </dgm:pt>
    <dgm:pt modelId="{4C7AA81A-2935-D844-AF46-72DF1DE2F5E5}" type="pres">
      <dgm:prSet presAssocID="{0D1BA040-1C77-4303-A039-0553B2E8B7B3}" presName="hierChild2" presStyleCnt="0"/>
      <dgm:spPr/>
    </dgm:pt>
  </dgm:ptLst>
  <dgm:cxnLst>
    <dgm:cxn modelId="{8BEE8502-7CA3-2743-AA10-70734D636B90}" type="presOf" srcId="{0D1BA040-1C77-4303-A039-0553B2E8B7B3}" destId="{BA3C976B-B168-F745-917E-ED881CE3D41C}" srcOrd="0" destOrd="0" presId="urn:microsoft.com/office/officeart/2005/8/layout/hierarchy1"/>
    <dgm:cxn modelId="{19874724-0B38-48C3-ABCA-DADE2CD55F5E}" srcId="{6446630D-053F-49C8-8EFF-610531C9799D}" destId="{A53A4167-8AD5-4F25-A7FE-C60C6DC615D0}" srcOrd="0" destOrd="0" parTransId="{6D172CDC-1110-4746-BA17-30578167D293}" sibTransId="{2B466005-3B52-479B-B49C-6E492CBFB197}"/>
    <dgm:cxn modelId="{9E7C9D2B-26C2-BE48-864B-7A884AE7F8AB}" type="presOf" srcId="{A53A4167-8AD5-4F25-A7FE-C60C6DC615D0}" destId="{82F650AD-6E70-3E41-AAB0-57C78C9B9ECC}" srcOrd="0" destOrd="0" presId="urn:microsoft.com/office/officeart/2005/8/layout/hierarchy1"/>
    <dgm:cxn modelId="{F314263F-2068-4618-98D1-7A518145EE58}" srcId="{6446630D-053F-49C8-8EFF-610531C9799D}" destId="{7DFDE421-A32D-4BE7-A323-CA590139D25F}" srcOrd="1" destOrd="0" parTransId="{EA2213BE-DA0D-4BE9-B66D-B1364F240EAF}" sibTransId="{55459CA4-EE20-4E06-ADB2-49BF16A0D9D2}"/>
    <dgm:cxn modelId="{C5EE74A8-C843-437D-AB75-89635422C9DA}" srcId="{6446630D-053F-49C8-8EFF-610531C9799D}" destId="{0D1BA040-1C77-4303-A039-0553B2E8B7B3}" srcOrd="2" destOrd="0" parTransId="{0EC7A70F-47FB-4712-865C-44A2F5C2CE2B}" sibTransId="{6A2AB577-D5C2-4967-A7B9-8553622DDA1E}"/>
    <dgm:cxn modelId="{F986CACF-A1C5-CB42-B64A-E8036A2141E1}" type="presOf" srcId="{7DFDE421-A32D-4BE7-A323-CA590139D25F}" destId="{14E86540-EB76-3544-B8BC-F5806A1FF1C5}" srcOrd="0" destOrd="0" presId="urn:microsoft.com/office/officeart/2005/8/layout/hierarchy1"/>
    <dgm:cxn modelId="{63754DEE-1087-784F-8A94-FB82D2964F28}" type="presOf" srcId="{6446630D-053F-49C8-8EFF-610531C9799D}" destId="{84F2921B-8FF6-1E42-8220-9F499A081A6B}" srcOrd="0" destOrd="0" presId="urn:microsoft.com/office/officeart/2005/8/layout/hierarchy1"/>
    <dgm:cxn modelId="{507CC33A-FFF5-414A-A5F7-0C208E3894C4}" type="presParOf" srcId="{84F2921B-8FF6-1E42-8220-9F499A081A6B}" destId="{88E509FF-B0FB-6942-843F-AE6198BC7E5A}" srcOrd="0" destOrd="0" presId="urn:microsoft.com/office/officeart/2005/8/layout/hierarchy1"/>
    <dgm:cxn modelId="{EE85B086-B92B-1243-B5C5-CD7AF8A57913}" type="presParOf" srcId="{88E509FF-B0FB-6942-843F-AE6198BC7E5A}" destId="{9C32A568-D42B-A447-8E96-76D1F78FBE72}" srcOrd="0" destOrd="0" presId="urn:microsoft.com/office/officeart/2005/8/layout/hierarchy1"/>
    <dgm:cxn modelId="{59C23509-F53B-EA4A-B423-73993467F075}" type="presParOf" srcId="{9C32A568-D42B-A447-8E96-76D1F78FBE72}" destId="{063959EA-E0B7-564A-AAE1-D7C349358BE1}" srcOrd="0" destOrd="0" presId="urn:microsoft.com/office/officeart/2005/8/layout/hierarchy1"/>
    <dgm:cxn modelId="{5E245DA8-357C-E243-B1F6-153987F4A142}" type="presParOf" srcId="{9C32A568-D42B-A447-8E96-76D1F78FBE72}" destId="{82F650AD-6E70-3E41-AAB0-57C78C9B9ECC}" srcOrd="1" destOrd="0" presId="urn:microsoft.com/office/officeart/2005/8/layout/hierarchy1"/>
    <dgm:cxn modelId="{D4055556-F12D-4143-9A71-CB4F144D4F00}" type="presParOf" srcId="{88E509FF-B0FB-6942-843F-AE6198BC7E5A}" destId="{176C78F5-321F-534C-A8F0-936562E28150}" srcOrd="1" destOrd="0" presId="urn:microsoft.com/office/officeart/2005/8/layout/hierarchy1"/>
    <dgm:cxn modelId="{B9E12DFD-5C74-5047-B9AF-B4F01C87B67C}" type="presParOf" srcId="{84F2921B-8FF6-1E42-8220-9F499A081A6B}" destId="{8432E34D-1E93-9B44-98F1-39DB8685C069}" srcOrd="1" destOrd="0" presId="urn:microsoft.com/office/officeart/2005/8/layout/hierarchy1"/>
    <dgm:cxn modelId="{4EF3E43D-7922-7446-A6F9-96C0755BC44B}" type="presParOf" srcId="{8432E34D-1E93-9B44-98F1-39DB8685C069}" destId="{3747AE2D-5991-8845-A53A-0C508DFB7DA3}" srcOrd="0" destOrd="0" presId="urn:microsoft.com/office/officeart/2005/8/layout/hierarchy1"/>
    <dgm:cxn modelId="{83B72237-0FC0-7C44-9C8C-808924FFFB50}" type="presParOf" srcId="{3747AE2D-5991-8845-A53A-0C508DFB7DA3}" destId="{99147387-09DB-E943-BD9E-12AB9C894A3D}" srcOrd="0" destOrd="0" presId="urn:microsoft.com/office/officeart/2005/8/layout/hierarchy1"/>
    <dgm:cxn modelId="{EFC400FE-3E24-D64D-8406-B28219F30CF4}" type="presParOf" srcId="{3747AE2D-5991-8845-A53A-0C508DFB7DA3}" destId="{14E86540-EB76-3544-B8BC-F5806A1FF1C5}" srcOrd="1" destOrd="0" presId="urn:microsoft.com/office/officeart/2005/8/layout/hierarchy1"/>
    <dgm:cxn modelId="{80581FA2-C1AC-B14E-B87C-46365B42E821}" type="presParOf" srcId="{8432E34D-1E93-9B44-98F1-39DB8685C069}" destId="{FF3A6816-2402-0B42-83DF-6341D8E269CA}" srcOrd="1" destOrd="0" presId="urn:microsoft.com/office/officeart/2005/8/layout/hierarchy1"/>
    <dgm:cxn modelId="{89B9FF18-7ABB-8344-8E15-7B42D9142304}" type="presParOf" srcId="{84F2921B-8FF6-1E42-8220-9F499A081A6B}" destId="{2CA1C167-5800-F043-BCD1-DAA95D621082}" srcOrd="2" destOrd="0" presId="urn:microsoft.com/office/officeart/2005/8/layout/hierarchy1"/>
    <dgm:cxn modelId="{2C213534-1965-FB4F-9F17-95E1BB9F2736}" type="presParOf" srcId="{2CA1C167-5800-F043-BCD1-DAA95D621082}" destId="{7C0F3161-06FC-C14B-9BB4-5FB6F4AEA87E}" srcOrd="0" destOrd="0" presId="urn:microsoft.com/office/officeart/2005/8/layout/hierarchy1"/>
    <dgm:cxn modelId="{14581AEE-2EA3-D248-BB1F-B48FFA8DF63D}" type="presParOf" srcId="{7C0F3161-06FC-C14B-9BB4-5FB6F4AEA87E}" destId="{F66FA766-E2FD-1F40-B6F0-F024E9F856C2}" srcOrd="0" destOrd="0" presId="urn:microsoft.com/office/officeart/2005/8/layout/hierarchy1"/>
    <dgm:cxn modelId="{33FB599B-51D2-B64D-A44E-E381D881433A}" type="presParOf" srcId="{7C0F3161-06FC-C14B-9BB4-5FB6F4AEA87E}" destId="{BA3C976B-B168-F745-917E-ED881CE3D41C}" srcOrd="1" destOrd="0" presId="urn:microsoft.com/office/officeart/2005/8/layout/hierarchy1"/>
    <dgm:cxn modelId="{1CC53103-7FC8-6A49-88E8-89E5ADC881BD}" type="presParOf" srcId="{2CA1C167-5800-F043-BCD1-DAA95D621082}" destId="{4C7AA81A-2935-D844-AF46-72DF1DE2F5E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A640FB7-AA75-453E-9DED-4521960F25B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576E243-BED0-4FAB-B5BB-13EEC87A1C3A}">
      <dgm:prSet/>
      <dgm:spPr/>
      <dgm:t>
        <a:bodyPr/>
        <a:lstStyle/>
        <a:p>
          <a:r>
            <a:rPr lang="en-US"/>
            <a:t>Plans to open stores in high traffic areas to boost visibility and sales</a:t>
          </a:r>
        </a:p>
      </dgm:t>
    </dgm:pt>
    <dgm:pt modelId="{B0A711EA-5506-48EC-A9EF-451214FBD736}" type="parTrans" cxnId="{FF89D1E6-1512-4259-B2FF-1EA603612DFB}">
      <dgm:prSet/>
      <dgm:spPr/>
      <dgm:t>
        <a:bodyPr/>
        <a:lstStyle/>
        <a:p>
          <a:endParaRPr lang="en-US"/>
        </a:p>
      </dgm:t>
    </dgm:pt>
    <dgm:pt modelId="{292E82CC-D337-430E-84CC-9ADDC474CC29}" type="sibTrans" cxnId="{FF89D1E6-1512-4259-B2FF-1EA603612DFB}">
      <dgm:prSet/>
      <dgm:spPr/>
      <dgm:t>
        <a:bodyPr/>
        <a:lstStyle/>
        <a:p>
          <a:endParaRPr lang="en-US"/>
        </a:p>
      </dgm:t>
    </dgm:pt>
    <dgm:pt modelId="{CEEE8167-CB9C-4F94-A037-BCF9AED890DD}">
      <dgm:prSet/>
      <dgm:spPr/>
      <dgm:t>
        <a:bodyPr/>
        <a:lstStyle/>
        <a:p>
          <a:r>
            <a:rPr lang="en-US"/>
            <a:t>Exploring deals with major retailers for broader customer reach and cost reduction</a:t>
          </a:r>
        </a:p>
      </dgm:t>
    </dgm:pt>
    <dgm:pt modelId="{0EEFA89D-1F24-4619-B894-9E80E9C10DAF}" type="parTrans" cxnId="{5A857C31-7770-46D3-B15B-8261CC9D114F}">
      <dgm:prSet/>
      <dgm:spPr/>
      <dgm:t>
        <a:bodyPr/>
        <a:lstStyle/>
        <a:p>
          <a:endParaRPr lang="en-US"/>
        </a:p>
      </dgm:t>
    </dgm:pt>
    <dgm:pt modelId="{0E22286E-F8E8-483D-810B-302A9A068F73}" type="sibTrans" cxnId="{5A857C31-7770-46D3-B15B-8261CC9D114F}">
      <dgm:prSet/>
      <dgm:spPr/>
      <dgm:t>
        <a:bodyPr/>
        <a:lstStyle/>
        <a:p>
          <a:endParaRPr lang="en-US"/>
        </a:p>
      </dgm:t>
    </dgm:pt>
    <dgm:pt modelId="{C4D4B133-1731-41AE-9DFC-F23048AB8114}">
      <dgm:prSet/>
      <dgm:spPr/>
      <dgm:t>
        <a:bodyPr/>
        <a:lstStyle/>
        <a:p>
          <a:r>
            <a:rPr lang="en-US"/>
            <a:t>Benefits include shared marketing, storage and distribution , and potentially leading to wholesale opportunities. </a:t>
          </a:r>
        </a:p>
      </dgm:t>
    </dgm:pt>
    <dgm:pt modelId="{5204B8AE-693C-4981-A277-097BE828DD97}" type="parTrans" cxnId="{F77402F4-8554-428D-8B1B-D9197F56EF75}">
      <dgm:prSet/>
      <dgm:spPr/>
      <dgm:t>
        <a:bodyPr/>
        <a:lstStyle/>
        <a:p>
          <a:endParaRPr lang="en-US"/>
        </a:p>
      </dgm:t>
    </dgm:pt>
    <dgm:pt modelId="{7F020114-2790-40A3-B7A0-FD92C048DBF4}" type="sibTrans" cxnId="{F77402F4-8554-428D-8B1B-D9197F56EF75}">
      <dgm:prSet/>
      <dgm:spPr/>
      <dgm:t>
        <a:bodyPr/>
        <a:lstStyle/>
        <a:p>
          <a:endParaRPr lang="en-US"/>
        </a:p>
      </dgm:t>
    </dgm:pt>
    <dgm:pt modelId="{EA20D281-7950-476B-B1DE-EBD75A2219C2}" type="pres">
      <dgm:prSet presAssocID="{EA640FB7-AA75-453E-9DED-4521960F25BF}" presName="root" presStyleCnt="0">
        <dgm:presLayoutVars>
          <dgm:dir/>
          <dgm:resizeHandles val="exact"/>
        </dgm:presLayoutVars>
      </dgm:prSet>
      <dgm:spPr/>
    </dgm:pt>
    <dgm:pt modelId="{66810A8D-5A98-4BCE-A9C8-64A76BE55795}" type="pres">
      <dgm:prSet presAssocID="{F576E243-BED0-4FAB-B5BB-13EEC87A1C3A}" presName="compNode" presStyleCnt="0"/>
      <dgm:spPr/>
    </dgm:pt>
    <dgm:pt modelId="{549FF68B-8185-452B-A6BE-696E1BDF8F5E}" type="pres">
      <dgm:prSet presAssocID="{F576E243-BED0-4FAB-B5BB-13EEC87A1C3A}" presName="bgRect" presStyleLbl="bgShp" presStyleIdx="0" presStyleCnt="3"/>
      <dgm:spPr/>
    </dgm:pt>
    <dgm:pt modelId="{DADB676F-664A-47D4-97C1-D8736134CD56}" type="pres">
      <dgm:prSet presAssocID="{F576E243-BED0-4FAB-B5BB-13EEC87A1C3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E62EEC1-44C9-47C7-BA23-24CAB56779A5}" type="pres">
      <dgm:prSet presAssocID="{F576E243-BED0-4FAB-B5BB-13EEC87A1C3A}" presName="spaceRect" presStyleCnt="0"/>
      <dgm:spPr/>
    </dgm:pt>
    <dgm:pt modelId="{C0B82B35-06CF-4DA1-BD15-90C555499345}" type="pres">
      <dgm:prSet presAssocID="{F576E243-BED0-4FAB-B5BB-13EEC87A1C3A}" presName="parTx" presStyleLbl="revTx" presStyleIdx="0" presStyleCnt="3">
        <dgm:presLayoutVars>
          <dgm:chMax val="0"/>
          <dgm:chPref val="0"/>
        </dgm:presLayoutVars>
      </dgm:prSet>
      <dgm:spPr/>
    </dgm:pt>
    <dgm:pt modelId="{4201030E-7598-4BC8-8D04-AD5C4BA5DAD1}" type="pres">
      <dgm:prSet presAssocID="{292E82CC-D337-430E-84CC-9ADDC474CC29}" presName="sibTrans" presStyleCnt="0"/>
      <dgm:spPr/>
    </dgm:pt>
    <dgm:pt modelId="{08F2BF46-7646-4B1F-A9FC-6AF349484FC3}" type="pres">
      <dgm:prSet presAssocID="{CEEE8167-CB9C-4F94-A037-BCF9AED890DD}" presName="compNode" presStyleCnt="0"/>
      <dgm:spPr/>
    </dgm:pt>
    <dgm:pt modelId="{0F96A041-9515-47C7-B39A-CEF5A786B514}" type="pres">
      <dgm:prSet presAssocID="{CEEE8167-CB9C-4F94-A037-BCF9AED890DD}" presName="bgRect" presStyleLbl="bgShp" presStyleIdx="1" presStyleCnt="3"/>
      <dgm:spPr/>
    </dgm:pt>
    <dgm:pt modelId="{8AD591A4-E642-4409-96EC-4633B5494940}" type="pres">
      <dgm:prSet presAssocID="{CEEE8167-CB9C-4F94-A037-BCF9AED890D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541E99CA-8E3E-4D61-BA6B-42420C94A3F7}" type="pres">
      <dgm:prSet presAssocID="{CEEE8167-CB9C-4F94-A037-BCF9AED890DD}" presName="spaceRect" presStyleCnt="0"/>
      <dgm:spPr/>
    </dgm:pt>
    <dgm:pt modelId="{CCDDB0A3-0E4D-475C-A63F-598875A2EF8A}" type="pres">
      <dgm:prSet presAssocID="{CEEE8167-CB9C-4F94-A037-BCF9AED890DD}" presName="parTx" presStyleLbl="revTx" presStyleIdx="1" presStyleCnt="3">
        <dgm:presLayoutVars>
          <dgm:chMax val="0"/>
          <dgm:chPref val="0"/>
        </dgm:presLayoutVars>
      </dgm:prSet>
      <dgm:spPr/>
    </dgm:pt>
    <dgm:pt modelId="{1F252A3A-6894-412C-BFF1-0A3743B3DCD0}" type="pres">
      <dgm:prSet presAssocID="{0E22286E-F8E8-483D-810B-302A9A068F73}" presName="sibTrans" presStyleCnt="0"/>
      <dgm:spPr/>
    </dgm:pt>
    <dgm:pt modelId="{019C6083-D882-4C44-9045-B443A4D6A08B}" type="pres">
      <dgm:prSet presAssocID="{C4D4B133-1731-41AE-9DFC-F23048AB8114}" presName="compNode" presStyleCnt="0"/>
      <dgm:spPr/>
    </dgm:pt>
    <dgm:pt modelId="{7ED6E4C3-1B00-43C5-88C1-7CB4BCE599C1}" type="pres">
      <dgm:prSet presAssocID="{C4D4B133-1731-41AE-9DFC-F23048AB8114}" presName="bgRect" presStyleLbl="bgShp" presStyleIdx="2" presStyleCnt="3"/>
      <dgm:spPr/>
    </dgm:pt>
    <dgm:pt modelId="{FE1FC718-A6D3-48CE-AA06-3B4550CDE03F}" type="pres">
      <dgm:prSet presAssocID="{C4D4B133-1731-41AE-9DFC-F23048AB811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8A9BA0F2-4052-42BA-83F2-15B6C309E4FB}" type="pres">
      <dgm:prSet presAssocID="{C4D4B133-1731-41AE-9DFC-F23048AB8114}" presName="spaceRect" presStyleCnt="0"/>
      <dgm:spPr/>
    </dgm:pt>
    <dgm:pt modelId="{76B618DA-BB1D-48F7-9284-4A2539DE86B3}" type="pres">
      <dgm:prSet presAssocID="{C4D4B133-1731-41AE-9DFC-F23048AB811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0BFEB01-AF4A-41F9-9CCB-539E2FD6C661}" type="presOf" srcId="{EA640FB7-AA75-453E-9DED-4521960F25BF}" destId="{EA20D281-7950-476B-B1DE-EBD75A2219C2}" srcOrd="0" destOrd="0" presId="urn:microsoft.com/office/officeart/2018/2/layout/IconVerticalSolidList"/>
    <dgm:cxn modelId="{9D653707-4293-4816-B868-FCB0B61F6228}" type="presOf" srcId="{F576E243-BED0-4FAB-B5BB-13EEC87A1C3A}" destId="{C0B82B35-06CF-4DA1-BD15-90C555499345}" srcOrd="0" destOrd="0" presId="urn:microsoft.com/office/officeart/2018/2/layout/IconVerticalSolidList"/>
    <dgm:cxn modelId="{BC5E250F-72ED-450F-BCB1-2331F76DEE77}" type="presOf" srcId="{C4D4B133-1731-41AE-9DFC-F23048AB8114}" destId="{76B618DA-BB1D-48F7-9284-4A2539DE86B3}" srcOrd="0" destOrd="0" presId="urn:microsoft.com/office/officeart/2018/2/layout/IconVerticalSolidList"/>
    <dgm:cxn modelId="{5A857C31-7770-46D3-B15B-8261CC9D114F}" srcId="{EA640FB7-AA75-453E-9DED-4521960F25BF}" destId="{CEEE8167-CB9C-4F94-A037-BCF9AED890DD}" srcOrd="1" destOrd="0" parTransId="{0EEFA89D-1F24-4619-B894-9E80E9C10DAF}" sibTransId="{0E22286E-F8E8-483D-810B-302A9A068F73}"/>
    <dgm:cxn modelId="{AD6BDCC4-C175-44BB-81AA-752461CF68C4}" type="presOf" srcId="{CEEE8167-CB9C-4F94-A037-BCF9AED890DD}" destId="{CCDDB0A3-0E4D-475C-A63F-598875A2EF8A}" srcOrd="0" destOrd="0" presId="urn:microsoft.com/office/officeart/2018/2/layout/IconVerticalSolidList"/>
    <dgm:cxn modelId="{FF89D1E6-1512-4259-B2FF-1EA603612DFB}" srcId="{EA640FB7-AA75-453E-9DED-4521960F25BF}" destId="{F576E243-BED0-4FAB-B5BB-13EEC87A1C3A}" srcOrd="0" destOrd="0" parTransId="{B0A711EA-5506-48EC-A9EF-451214FBD736}" sibTransId="{292E82CC-D337-430E-84CC-9ADDC474CC29}"/>
    <dgm:cxn modelId="{F77402F4-8554-428D-8B1B-D9197F56EF75}" srcId="{EA640FB7-AA75-453E-9DED-4521960F25BF}" destId="{C4D4B133-1731-41AE-9DFC-F23048AB8114}" srcOrd="2" destOrd="0" parTransId="{5204B8AE-693C-4981-A277-097BE828DD97}" sibTransId="{7F020114-2790-40A3-B7A0-FD92C048DBF4}"/>
    <dgm:cxn modelId="{A0746EF1-DDED-4C03-AD36-D88E675746C8}" type="presParOf" srcId="{EA20D281-7950-476B-B1DE-EBD75A2219C2}" destId="{66810A8D-5A98-4BCE-A9C8-64A76BE55795}" srcOrd="0" destOrd="0" presId="urn:microsoft.com/office/officeart/2018/2/layout/IconVerticalSolidList"/>
    <dgm:cxn modelId="{F25E93D7-399E-4793-A0E3-6317CE6EF595}" type="presParOf" srcId="{66810A8D-5A98-4BCE-A9C8-64A76BE55795}" destId="{549FF68B-8185-452B-A6BE-696E1BDF8F5E}" srcOrd="0" destOrd="0" presId="urn:microsoft.com/office/officeart/2018/2/layout/IconVerticalSolidList"/>
    <dgm:cxn modelId="{0FC96E6C-D24E-48F3-8D4D-0A35CC05CB12}" type="presParOf" srcId="{66810A8D-5A98-4BCE-A9C8-64A76BE55795}" destId="{DADB676F-664A-47D4-97C1-D8736134CD56}" srcOrd="1" destOrd="0" presId="urn:microsoft.com/office/officeart/2018/2/layout/IconVerticalSolidList"/>
    <dgm:cxn modelId="{CD64F1AF-8503-4BED-B419-CC0A0A470444}" type="presParOf" srcId="{66810A8D-5A98-4BCE-A9C8-64A76BE55795}" destId="{AE62EEC1-44C9-47C7-BA23-24CAB56779A5}" srcOrd="2" destOrd="0" presId="urn:microsoft.com/office/officeart/2018/2/layout/IconVerticalSolidList"/>
    <dgm:cxn modelId="{7348ED0B-B348-42AA-B850-C8C374C40049}" type="presParOf" srcId="{66810A8D-5A98-4BCE-A9C8-64A76BE55795}" destId="{C0B82B35-06CF-4DA1-BD15-90C555499345}" srcOrd="3" destOrd="0" presId="urn:microsoft.com/office/officeart/2018/2/layout/IconVerticalSolidList"/>
    <dgm:cxn modelId="{FDE7B7F3-B2A2-476D-B1A5-6FE8366AFBAD}" type="presParOf" srcId="{EA20D281-7950-476B-B1DE-EBD75A2219C2}" destId="{4201030E-7598-4BC8-8D04-AD5C4BA5DAD1}" srcOrd="1" destOrd="0" presId="urn:microsoft.com/office/officeart/2018/2/layout/IconVerticalSolidList"/>
    <dgm:cxn modelId="{CD70F620-B2D8-4952-98D5-3B056A768307}" type="presParOf" srcId="{EA20D281-7950-476B-B1DE-EBD75A2219C2}" destId="{08F2BF46-7646-4B1F-A9FC-6AF349484FC3}" srcOrd="2" destOrd="0" presId="urn:microsoft.com/office/officeart/2018/2/layout/IconVerticalSolidList"/>
    <dgm:cxn modelId="{F5FD4F7E-6650-4478-8394-6E3790FE0419}" type="presParOf" srcId="{08F2BF46-7646-4B1F-A9FC-6AF349484FC3}" destId="{0F96A041-9515-47C7-B39A-CEF5A786B514}" srcOrd="0" destOrd="0" presId="urn:microsoft.com/office/officeart/2018/2/layout/IconVerticalSolidList"/>
    <dgm:cxn modelId="{26A5C222-D456-4543-B527-80A073741432}" type="presParOf" srcId="{08F2BF46-7646-4B1F-A9FC-6AF349484FC3}" destId="{8AD591A4-E642-4409-96EC-4633B5494940}" srcOrd="1" destOrd="0" presId="urn:microsoft.com/office/officeart/2018/2/layout/IconVerticalSolidList"/>
    <dgm:cxn modelId="{8CA7A441-0F9A-4C4A-8A67-3EE0A03A3722}" type="presParOf" srcId="{08F2BF46-7646-4B1F-A9FC-6AF349484FC3}" destId="{541E99CA-8E3E-4D61-BA6B-42420C94A3F7}" srcOrd="2" destOrd="0" presId="urn:microsoft.com/office/officeart/2018/2/layout/IconVerticalSolidList"/>
    <dgm:cxn modelId="{DEC88481-80EA-41AA-8E36-EC347D93713E}" type="presParOf" srcId="{08F2BF46-7646-4B1F-A9FC-6AF349484FC3}" destId="{CCDDB0A3-0E4D-475C-A63F-598875A2EF8A}" srcOrd="3" destOrd="0" presId="urn:microsoft.com/office/officeart/2018/2/layout/IconVerticalSolidList"/>
    <dgm:cxn modelId="{37F7E49C-F7EE-4B4C-8152-D281BC6DD0BC}" type="presParOf" srcId="{EA20D281-7950-476B-B1DE-EBD75A2219C2}" destId="{1F252A3A-6894-412C-BFF1-0A3743B3DCD0}" srcOrd="3" destOrd="0" presId="urn:microsoft.com/office/officeart/2018/2/layout/IconVerticalSolidList"/>
    <dgm:cxn modelId="{B53D10C6-D917-44B8-BB80-DCE2FFBDECC5}" type="presParOf" srcId="{EA20D281-7950-476B-B1DE-EBD75A2219C2}" destId="{019C6083-D882-4C44-9045-B443A4D6A08B}" srcOrd="4" destOrd="0" presId="urn:microsoft.com/office/officeart/2018/2/layout/IconVerticalSolidList"/>
    <dgm:cxn modelId="{F8E1FE0D-E74E-4F50-8458-606311B05B1A}" type="presParOf" srcId="{019C6083-D882-4C44-9045-B443A4D6A08B}" destId="{7ED6E4C3-1B00-43C5-88C1-7CB4BCE599C1}" srcOrd="0" destOrd="0" presId="urn:microsoft.com/office/officeart/2018/2/layout/IconVerticalSolidList"/>
    <dgm:cxn modelId="{9CB00DBF-E074-4866-932B-7BD152B8D044}" type="presParOf" srcId="{019C6083-D882-4C44-9045-B443A4D6A08B}" destId="{FE1FC718-A6D3-48CE-AA06-3B4550CDE03F}" srcOrd="1" destOrd="0" presId="urn:microsoft.com/office/officeart/2018/2/layout/IconVerticalSolidList"/>
    <dgm:cxn modelId="{D2EB4EAB-BF00-4BEC-A75C-94F2D1A69129}" type="presParOf" srcId="{019C6083-D882-4C44-9045-B443A4D6A08B}" destId="{8A9BA0F2-4052-42BA-83F2-15B6C309E4FB}" srcOrd="2" destOrd="0" presId="urn:microsoft.com/office/officeart/2018/2/layout/IconVerticalSolidList"/>
    <dgm:cxn modelId="{73E0DF83-451C-455A-A355-8E716A04EFE8}" type="presParOf" srcId="{019C6083-D882-4C44-9045-B443A4D6A08B}" destId="{76B618DA-BB1D-48F7-9284-4A2539DE86B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D80B358-0D1C-4962-B3D6-8C00F3739A9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B11401C-A7C5-4FEC-9D88-155C77D370A1}">
      <dgm:prSet/>
      <dgm:spPr/>
      <dgm:t>
        <a:bodyPr/>
        <a:lstStyle/>
        <a:p>
          <a:r>
            <a:rPr lang="en-US"/>
            <a:t>Balance ethical responsibilities with calculated risks</a:t>
          </a:r>
        </a:p>
      </dgm:t>
    </dgm:pt>
    <dgm:pt modelId="{4E582A1C-FF42-4833-A6AF-EDF755C9F02B}" type="parTrans" cxnId="{74C3B73B-E24F-4709-85B9-FDFA2A64F8A9}">
      <dgm:prSet/>
      <dgm:spPr/>
      <dgm:t>
        <a:bodyPr/>
        <a:lstStyle/>
        <a:p>
          <a:endParaRPr lang="en-US"/>
        </a:p>
      </dgm:t>
    </dgm:pt>
    <dgm:pt modelId="{06F40A3A-5F0C-4A9C-A8AC-0A545DB69B10}" type="sibTrans" cxnId="{74C3B73B-E24F-4709-85B9-FDFA2A64F8A9}">
      <dgm:prSet/>
      <dgm:spPr/>
      <dgm:t>
        <a:bodyPr/>
        <a:lstStyle/>
        <a:p>
          <a:endParaRPr lang="en-US"/>
        </a:p>
      </dgm:t>
    </dgm:pt>
    <dgm:pt modelId="{EDE302C6-E8DA-49BF-B760-2B44BEE02C20}">
      <dgm:prSet/>
      <dgm:spPr/>
      <dgm:t>
        <a:bodyPr/>
        <a:lstStyle/>
        <a:p>
          <a:r>
            <a:rPr lang="en-US"/>
            <a:t>Recommit to mission for strong market presence</a:t>
          </a:r>
        </a:p>
      </dgm:t>
    </dgm:pt>
    <dgm:pt modelId="{0A339BCB-3DEF-469F-A628-EFC10C50EA4B}" type="parTrans" cxnId="{8864D299-4C3C-495C-A3E8-F0DF50B0A9E1}">
      <dgm:prSet/>
      <dgm:spPr/>
      <dgm:t>
        <a:bodyPr/>
        <a:lstStyle/>
        <a:p>
          <a:endParaRPr lang="en-US"/>
        </a:p>
      </dgm:t>
    </dgm:pt>
    <dgm:pt modelId="{2D1FF602-9B53-45FE-BF17-72F591942046}" type="sibTrans" cxnId="{8864D299-4C3C-495C-A3E8-F0DF50B0A9E1}">
      <dgm:prSet/>
      <dgm:spPr/>
      <dgm:t>
        <a:bodyPr/>
        <a:lstStyle/>
        <a:p>
          <a:endParaRPr lang="en-US"/>
        </a:p>
      </dgm:t>
    </dgm:pt>
    <dgm:pt modelId="{7884675A-3340-4C4A-8B57-7F2CF00B8C60}">
      <dgm:prSet/>
      <dgm:spPr/>
      <dgm:t>
        <a:bodyPr/>
        <a:lstStyle/>
        <a:p>
          <a:r>
            <a:rPr lang="en-US"/>
            <a:t>Position Elite Carbon Cycles as a market leader and trusted brand</a:t>
          </a:r>
        </a:p>
      </dgm:t>
    </dgm:pt>
    <dgm:pt modelId="{FC4CD13A-2223-4E01-A6BB-04826F4E5287}" type="parTrans" cxnId="{BF45E4EE-6384-445B-8238-29F830470A24}">
      <dgm:prSet/>
      <dgm:spPr/>
      <dgm:t>
        <a:bodyPr/>
        <a:lstStyle/>
        <a:p>
          <a:endParaRPr lang="en-US"/>
        </a:p>
      </dgm:t>
    </dgm:pt>
    <dgm:pt modelId="{D8174F18-3657-4A34-A8A6-C2A5EE74D7F8}" type="sibTrans" cxnId="{BF45E4EE-6384-445B-8238-29F830470A24}">
      <dgm:prSet/>
      <dgm:spPr/>
      <dgm:t>
        <a:bodyPr/>
        <a:lstStyle/>
        <a:p>
          <a:endParaRPr lang="en-US"/>
        </a:p>
      </dgm:t>
    </dgm:pt>
    <dgm:pt modelId="{F30DD181-806B-4BE6-B03C-4C1583D87FE4}" type="pres">
      <dgm:prSet presAssocID="{AD80B358-0D1C-4962-B3D6-8C00F3739A9F}" presName="root" presStyleCnt="0">
        <dgm:presLayoutVars>
          <dgm:dir/>
          <dgm:resizeHandles val="exact"/>
        </dgm:presLayoutVars>
      </dgm:prSet>
      <dgm:spPr/>
    </dgm:pt>
    <dgm:pt modelId="{5BE32210-CD0A-4AD7-9EA5-62C39B56FAF4}" type="pres">
      <dgm:prSet presAssocID="{BB11401C-A7C5-4FEC-9D88-155C77D370A1}" presName="compNode" presStyleCnt="0"/>
      <dgm:spPr/>
    </dgm:pt>
    <dgm:pt modelId="{5D6E16EE-6D66-4071-9623-2A3E9E86D98C}" type="pres">
      <dgm:prSet presAssocID="{BB11401C-A7C5-4FEC-9D88-155C77D370A1}" presName="bgRect" presStyleLbl="bgShp" presStyleIdx="0" presStyleCnt="3"/>
      <dgm:spPr/>
    </dgm:pt>
    <dgm:pt modelId="{DB38D9BB-1868-4502-85C8-E7B0C5BB1472}" type="pres">
      <dgm:prSet presAssocID="{BB11401C-A7C5-4FEC-9D88-155C77D370A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494F76A6-01F1-4CE1-8BF5-C89EA8A24234}" type="pres">
      <dgm:prSet presAssocID="{BB11401C-A7C5-4FEC-9D88-155C77D370A1}" presName="spaceRect" presStyleCnt="0"/>
      <dgm:spPr/>
    </dgm:pt>
    <dgm:pt modelId="{134CD898-9B95-4849-9508-B45A7577907B}" type="pres">
      <dgm:prSet presAssocID="{BB11401C-A7C5-4FEC-9D88-155C77D370A1}" presName="parTx" presStyleLbl="revTx" presStyleIdx="0" presStyleCnt="3">
        <dgm:presLayoutVars>
          <dgm:chMax val="0"/>
          <dgm:chPref val="0"/>
        </dgm:presLayoutVars>
      </dgm:prSet>
      <dgm:spPr/>
    </dgm:pt>
    <dgm:pt modelId="{AD49FAEE-4275-41BE-8B31-656F5D5FF6EE}" type="pres">
      <dgm:prSet presAssocID="{06F40A3A-5F0C-4A9C-A8AC-0A545DB69B10}" presName="sibTrans" presStyleCnt="0"/>
      <dgm:spPr/>
    </dgm:pt>
    <dgm:pt modelId="{68B969F2-28EE-432E-9A2C-4314A1A3F2EE}" type="pres">
      <dgm:prSet presAssocID="{EDE302C6-E8DA-49BF-B760-2B44BEE02C20}" presName="compNode" presStyleCnt="0"/>
      <dgm:spPr/>
    </dgm:pt>
    <dgm:pt modelId="{19699D30-023D-4AB1-8E37-3D3E8D49242C}" type="pres">
      <dgm:prSet presAssocID="{EDE302C6-E8DA-49BF-B760-2B44BEE02C20}" presName="bgRect" presStyleLbl="bgShp" presStyleIdx="1" presStyleCnt="3"/>
      <dgm:spPr/>
    </dgm:pt>
    <dgm:pt modelId="{7F1E701B-3A69-468A-A8D7-75EF502A2DFE}" type="pres">
      <dgm:prSet presAssocID="{EDE302C6-E8DA-49BF-B760-2B44BEE02C2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8C8D0192-77BF-4C3C-825A-E1581D0D198D}" type="pres">
      <dgm:prSet presAssocID="{EDE302C6-E8DA-49BF-B760-2B44BEE02C20}" presName="spaceRect" presStyleCnt="0"/>
      <dgm:spPr/>
    </dgm:pt>
    <dgm:pt modelId="{767F8CA2-0A4D-42BB-93EF-A39909904AD0}" type="pres">
      <dgm:prSet presAssocID="{EDE302C6-E8DA-49BF-B760-2B44BEE02C20}" presName="parTx" presStyleLbl="revTx" presStyleIdx="1" presStyleCnt="3">
        <dgm:presLayoutVars>
          <dgm:chMax val="0"/>
          <dgm:chPref val="0"/>
        </dgm:presLayoutVars>
      </dgm:prSet>
      <dgm:spPr/>
    </dgm:pt>
    <dgm:pt modelId="{A2C89F65-63B1-4163-AD26-A81AC7FE8C8D}" type="pres">
      <dgm:prSet presAssocID="{2D1FF602-9B53-45FE-BF17-72F591942046}" presName="sibTrans" presStyleCnt="0"/>
      <dgm:spPr/>
    </dgm:pt>
    <dgm:pt modelId="{7346CA3C-4969-42E9-A9E7-F37EDA322B29}" type="pres">
      <dgm:prSet presAssocID="{7884675A-3340-4C4A-8B57-7F2CF00B8C60}" presName="compNode" presStyleCnt="0"/>
      <dgm:spPr/>
    </dgm:pt>
    <dgm:pt modelId="{D333C1C2-718E-47E0-891B-128BFC944712}" type="pres">
      <dgm:prSet presAssocID="{7884675A-3340-4C4A-8B57-7F2CF00B8C60}" presName="bgRect" presStyleLbl="bgShp" presStyleIdx="2" presStyleCnt="3"/>
      <dgm:spPr/>
    </dgm:pt>
    <dgm:pt modelId="{690D4E62-3261-4222-8364-721C2797B9D9}" type="pres">
      <dgm:prSet presAssocID="{7884675A-3340-4C4A-8B57-7F2CF00B8C6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5941458-48B1-402D-9259-E5C0BC6D0D3A}" type="pres">
      <dgm:prSet presAssocID="{7884675A-3340-4C4A-8B57-7F2CF00B8C60}" presName="spaceRect" presStyleCnt="0"/>
      <dgm:spPr/>
    </dgm:pt>
    <dgm:pt modelId="{DF307EED-3DF2-46D1-A3B4-863DB18D72D6}" type="pres">
      <dgm:prSet presAssocID="{7884675A-3340-4C4A-8B57-7F2CF00B8C6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38F0900-33C0-4542-AFFD-C404B6BAC1F9}" type="presOf" srcId="{7884675A-3340-4C4A-8B57-7F2CF00B8C60}" destId="{DF307EED-3DF2-46D1-A3B4-863DB18D72D6}" srcOrd="0" destOrd="0" presId="urn:microsoft.com/office/officeart/2018/2/layout/IconVerticalSolidList"/>
    <dgm:cxn modelId="{74C3B73B-E24F-4709-85B9-FDFA2A64F8A9}" srcId="{AD80B358-0D1C-4962-B3D6-8C00F3739A9F}" destId="{BB11401C-A7C5-4FEC-9D88-155C77D370A1}" srcOrd="0" destOrd="0" parTransId="{4E582A1C-FF42-4833-A6AF-EDF755C9F02B}" sibTransId="{06F40A3A-5F0C-4A9C-A8AC-0A545DB69B10}"/>
    <dgm:cxn modelId="{63FDED49-7F78-40E6-8094-3360DF9ED3C3}" type="presOf" srcId="{EDE302C6-E8DA-49BF-B760-2B44BEE02C20}" destId="{767F8CA2-0A4D-42BB-93EF-A39909904AD0}" srcOrd="0" destOrd="0" presId="urn:microsoft.com/office/officeart/2018/2/layout/IconVerticalSolidList"/>
    <dgm:cxn modelId="{462C8C92-13CB-44DC-A069-CC8B6ECC10A0}" type="presOf" srcId="{BB11401C-A7C5-4FEC-9D88-155C77D370A1}" destId="{134CD898-9B95-4849-9508-B45A7577907B}" srcOrd="0" destOrd="0" presId="urn:microsoft.com/office/officeart/2018/2/layout/IconVerticalSolidList"/>
    <dgm:cxn modelId="{8864D299-4C3C-495C-A3E8-F0DF50B0A9E1}" srcId="{AD80B358-0D1C-4962-B3D6-8C00F3739A9F}" destId="{EDE302C6-E8DA-49BF-B760-2B44BEE02C20}" srcOrd="1" destOrd="0" parTransId="{0A339BCB-3DEF-469F-A628-EFC10C50EA4B}" sibTransId="{2D1FF602-9B53-45FE-BF17-72F591942046}"/>
    <dgm:cxn modelId="{522181DF-504F-4ED9-B2BD-D9DB9AA2255F}" type="presOf" srcId="{AD80B358-0D1C-4962-B3D6-8C00F3739A9F}" destId="{F30DD181-806B-4BE6-B03C-4C1583D87FE4}" srcOrd="0" destOrd="0" presId="urn:microsoft.com/office/officeart/2018/2/layout/IconVerticalSolidList"/>
    <dgm:cxn modelId="{BF45E4EE-6384-445B-8238-29F830470A24}" srcId="{AD80B358-0D1C-4962-B3D6-8C00F3739A9F}" destId="{7884675A-3340-4C4A-8B57-7F2CF00B8C60}" srcOrd="2" destOrd="0" parTransId="{FC4CD13A-2223-4E01-A6BB-04826F4E5287}" sibTransId="{D8174F18-3657-4A34-A8A6-C2A5EE74D7F8}"/>
    <dgm:cxn modelId="{DFFE816B-BF4E-4095-99BB-9E7B3C38C18A}" type="presParOf" srcId="{F30DD181-806B-4BE6-B03C-4C1583D87FE4}" destId="{5BE32210-CD0A-4AD7-9EA5-62C39B56FAF4}" srcOrd="0" destOrd="0" presId="urn:microsoft.com/office/officeart/2018/2/layout/IconVerticalSolidList"/>
    <dgm:cxn modelId="{BAFC0C3F-137A-4A59-A6BC-8D02A3BED456}" type="presParOf" srcId="{5BE32210-CD0A-4AD7-9EA5-62C39B56FAF4}" destId="{5D6E16EE-6D66-4071-9623-2A3E9E86D98C}" srcOrd="0" destOrd="0" presId="urn:microsoft.com/office/officeart/2018/2/layout/IconVerticalSolidList"/>
    <dgm:cxn modelId="{2C21D0BF-4953-4750-9762-2D870B2D7806}" type="presParOf" srcId="{5BE32210-CD0A-4AD7-9EA5-62C39B56FAF4}" destId="{DB38D9BB-1868-4502-85C8-E7B0C5BB1472}" srcOrd="1" destOrd="0" presId="urn:microsoft.com/office/officeart/2018/2/layout/IconVerticalSolidList"/>
    <dgm:cxn modelId="{E5EEC96B-920D-4273-B3E8-598E986E6116}" type="presParOf" srcId="{5BE32210-CD0A-4AD7-9EA5-62C39B56FAF4}" destId="{494F76A6-01F1-4CE1-8BF5-C89EA8A24234}" srcOrd="2" destOrd="0" presId="urn:microsoft.com/office/officeart/2018/2/layout/IconVerticalSolidList"/>
    <dgm:cxn modelId="{E0B72036-92C6-4204-A5B5-63550D6A7878}" type="presParOf" srcId="{5BE32210-CD0A-4AD7-9EA5-62C39B56FAF4}" destId="{134CD898-9B95-4849-9508-B45A7577907B}" srcOrd="3" destOrd="0" presId="urn:microsoft.com/office/officeart/2018/2/layout/IconVerticalSolidList"/>
    <dgm:cxn modelId="{D873BA30-531A-430F-864E-57E4B47BB8DE}" type="presParOf" srcId="{F30DD181-806B-4BE6-B03C-4C1583D87FE4}" destId="{AD49FAEE-4275-41BE-8B31-656F5D5FF6EE}" srcOrd="1" destOrd="0" presId="urn:microsoft.com/office/officeart/2018/2/layout/IconVerticalSolidList"/>
    <dgm:cxn modelId="{5279B5C2-296C-412C-90ED-445B21A67540}" type="presParOf" srcId="{F30DD181-806B-4BE6-B03C-4C1583D87FE4}" destId="{68B969F2-28EE-432E-9A2C-4314A1A3F2EE}" srcOrd="2" destOrd="0" presId="urn:microsoft.com/office/officeart/2018/2/layout/IconVerticalSolidList"/>
    <dgm:cxn modelId="{598BAAAC-441A-4971-A83A-F3C4D71BD66C}" type="presParOf" srcId="{68B969F2-28EE-432E-9A2C-4314A1A3F2EE}" destId="{19699D30-023D-4AB1-8E37-3D3E8D49242C}" srcOrd="0" destOrd="0" presId="urn:microsoft.com/office/officeart/2018/2/layout/IconVerticalSolidList"/>
    <dgm:cxn modelId="{0382B9EC-24FA-41F4-AD9C-A7AF3F5DF0D0}" type="presParOf" srcId="{68B969F2-28EE-432E-9A2C-4314A1A3F2EE}" destId="{7F1E701B-3A69-468A-A8D7-75EF502A2DFE}" srcOrd="1" destOrd="0" presId="urn:microsoft.com/office/officeart/2018/2/layout/IconVerticalSolidList"/>
    <dgm:cxn modelId="{52FE8379-B2A1-42C4-858F-434AC1517241}" type="presParOf" srcId="{68B969F2-28EE-432E-9A2C-4314A1A3F2EE}" destId="{8C8D0192-77BF-4C3C-825A-E1581D0D198D}" srcOrd="2" destOrd="0" presId="urn:microsoft.com/office/officeart/2018/2/layout/IconVerticalSolidList"/>
    <dgm:cxn modelId="{E5440E23-2DF8-4478-A961-EF0CBDD787FA}" type="presParOf" srcId="{68B969F2-28EE-432E-9A2C-4314A1A3F2EE}" destId="{767F8CA2-0A4D-42BB-93EF-A39909904AD0}" srcOrd="3" destOrd="0" presId="urn:microsoft.com/office/officeart/2018/2/layout/IconVerticalSolidList"/>
    <dgm:cxn modelId="{F94FFB71-4C23-462C-9882-4F0AC8783FF4}" type="presParOf" srcId="{F30DD181-806B-4BE6-B03C-4C1583D87FE4}" destId="{A2C89F65-63B1-4163-AD26-A81AC7FE8C8D}" srcOrd="3" destOrd="0" presId="urn:microsoft.com/office/officeart/2018/2/layout/IconVerticalSolidList"/>
    <dgm:cxn modelId="{3A78D807-248C-411A-A7D4-82F32D2DD5E8}" type="presParOf" srcId="{F30DD181-806B-4BE6-B03C-4C1583D87FE4}" destId="{7346CA3C-4969-42E9-A9E7-F37EDA322B29}" srcOrd="4" destOrd="0" presId="urn:microsoft.com/office/officeart/2018/2/layout/IconVerticalSolidList"/>
    <dgm:cxn modelId="{BBEF9523-68E0-4336-B1CB-23D2A606479C}" type="presParOf" srcId="{7346CA3C-4969-42E9-A9E7-F37EDA322B29}" destId="{D333C1C2-718E-47E0-891B-128BFC944712}" srcOrd="0" destOrd="0" presId="urn:microsoft.com/office/officeart/2018/2/layout/IconVerticalSolidList"/>
    <dgm:cxn modelId="{90C4F305-CC93-4221-B170-F6C0ECF74C8A}" type="presParOf" srcId="{7346CA3C-4969-42E9-A9E7-F37EDA322B29}" destId="{690D4E62-3261-4222-8364-721C2797B9D9}" srcOrd="1" destOrd="0" presId="urn:microsoft.com/office/officeart/2018/2/layout/IconVerticalSolidList"/>
    <dgm:cxn modelId="{780D3ADC-3386-43CC-9928-6936335489C1}" type="presParOf" srcId="{7346CA3C-4969-42E9-A9E7-F37EDA322B29}" destId="{35941458-48B1-402D-9259-E5C0BC6D0D3A}" srcOrd="2" destOrd="0" presId="urn:microsoft.com/office/officeart/2018/2/layout/IconVerticalSolidList"/>
    <dgm:cxn modelId="{17143D64-F330-4DB9-BF34-57343EC52CB8}" type="presParOf" srcId="{7346CA3C-4969-42E9-A9E7-F37EDA322B29}" destId="{DF307EED-3DF2-46D1-A3B4-863DB18D72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3CB448-9C02-C74E-B968-818164A211AA}">
      <dsp:nvSpPr>
        <dsp:cNvPr id="0" name=""/>
        <dsp:cNvSpPr/>
      </dsp:nvSpPr>
      <dsp:spPr>
        <a:xfrm>
          <a:off x="1150" y="552470"/>
          <a:ext cx="2454506" cy="14727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Our Q4 -Q6 goals included launching three new brands, investing in R&amp;D, and enhancing product quality and sustainability through system improvements. </a:t>
          </a:r>
        </a:p>
      </dsp:txBody>
      <dsp:txXfrm>
        <a:off x="44284" y="595604"/>
        <a:ext cx="2368238" cy="1386435"/>
      </dsp:txXfrm>
    </dsp:sp>
    <dsp:sp modelId="{26490C29-AF71-554D-95CD-6571045A1084}">
      <dsp:nvSpPr>
        <dsp:cNvPr id="0" name=""/>
        <dsp:cNvSpPr/>
      </dsp:nvSpPr>
      <dsp:spPr>
        <a:xfrm>
          <a:off x="2671653" y="984463"/>
          <a:ext cx="520355" cy="6087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671653" y="1106206"/>
        <a:ext cx="364249" cy="365231"/>
      </dsp:txXfrm>
    </dsp:sp>
    <dsp:sp modelId="{77756232-FEFE-5141-B766-04736BDBEBA1}">
      <dsp:nvSpPr>
        <dsp:cNvPr id="0" name=""/>
        <dsp:cNvSpPr/>
      </dsp:nvSpPr>
      <dsp:spPr>
        <a:xfrm>
          <a:off x="3437459" y="552470"/>
          <a:ext cx="2454506" cy="14727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Q4</a:t>
          </a:r>
          <a:r>
            <a:rPr lang="en-US" sz="900" kern="1200"/>
            <a:t> focused on launching three new models, targeting all 3 segments. 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-Projected revenue was $1,208,655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-Actual revenue was $1,658,250. 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-R&amp;D expenses reached $2,150,863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-Operating loss was $2,254,745, despite a $2.5 million venture capital investment.</a:t>
          </a:r>
        </a:p>
      </dsp:txBody>
      <dsp:txXfrm>
        <a:off x="3480593" y="595604"/>
        <a:ext cx="2368238" cy="1386435"/>
      </dsp:txXfrm>
    </dsp:sp>
    <dsp:sp modelId="{87A0DBF0-385C-2749-BD8B-FA23907ACF84}">
      <dsp:nvSpPr>
        <dsp:cNvPr id="0" name=""/>
        <dsp:cNvSpPr/>
      </dsp:nvSpPr>
      <dsp:spPr>
        <a:xfrm rot="5400000">
          <a:off x="4404535" y="2196989"/>
          <a:ext cx="520355" cy="6087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-5400000">
        <a:off x="4482097" y="2241170"/>
        <a:ext cx="365231" cy="364249"/>
      </dsp:txXfrm>
    </dsp:sp>
    <dsp:sp modelId="{E4EF2054-443A-3B48-9D3F-72572DF49A03}">
      <dsp:nvSpPr>
        <dsp:cNvPr id="0" name=""/>
        <dsp:cNvSpPr/>
      </dsp:nvSpPr>
      <dsp:spPr>
        <a:xfrm>
          <a:off x="3437459" y="3006976"/>
          <a:ext cx="2454506" cy="14727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Q5 </a:t>
          </a:r>
          <a:r>
            <a:rPr lang="en-US" sz="900" b="0" kern="1200"/>
            <a:t>was planned for consolidation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-R&amp;D expenses were $886,794 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-Advertising Expenses were $164,315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-Expected revenue was $1,885,000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-Actual revenue was $3,953,950  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-Operating profit was $297,454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-Negative retained earnings were $4,194,656.</a:t>
          </a:r>
        </a:p>
      </dsp:txBody>
      <dsp:txXfrm>
        <a:off x="3480593" y="3050110"/>
        <a:ext cx="2368238" cy="1386435"/>
      </dsp:txXfrm>
    </dsp:sp>
    <dsp:sp modelId="{16F27015-5786-004F-BDD3-A1AB13353394}">
      <dsp:nvSpPr>
        <dsp:cNvPr id="0" name=""/>
        <dsp:cNvSpPr/>
      </dsp:nvSpPr>
      <dsp:spPr>
        <a:xfrm rot="10800000">
          <a:off x="2701107" y="3438969"/>
          <a:ext cx="520355" cy="6087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10800000">
        <a:off x="2857213" y="3560712"/>
        <a:ext cx="364249" cy="365231"/>
      </dsp:txXfrm>
    </dsp:sp>
    <dsp:sp modelId="{0CDFBB00-968C-0743-B21C-D0BE9BD90AC6}">
      <dsp:nvSpPr>
        <dsp:cNvPr id="0" name=""/>
        <dsp:cNvSpPr/>
      </dsp:nvSpPr>
      <dsp:spPr>
        <a:xfrm>
          <a:off x="1150" y="3006976"/>
          <a:ext cx="2454506" cy="14727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Q6</a:t>
          </a:r>
          <a:r>
            <a:rPr lang="en-US" sz="900" kern="1200"/>
            <a:t> aimed for continued investments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–Allocated $500,000 for improvements 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-Increased marketing expenses to $168,350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-Projected revenue was $2,047,500 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-Actual revenue was$8,481,650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-Operating profit increased to $4,016,705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-Net income was $3,480,233.</a:t>
          </a:r>
          <a:r>
            <a:rPr lang="en-US" sz="900" b="0" i="0" kern="1200"/>
            <a:t> </a:t>
          </a:r>
          <a:endParaRPr lang="en-US" sz="900" kern="1200"/>
        </a:p>
      </dsp:txBody>
      <dsp:txXfrm>
        <a:off x="44284" y="3050110"/>
        <a:ext cx="2368238" cy="13864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39BC6C-E12C-874A-AF8B-713A2904BC40}">
      <dsp:nvSpPr>
        <dsp:cNvPr id="0" name=""/>
        <dsp:cNvSpPr/>
      </dsp:nvSpPr>
      <dsp:spPr>
        <a:xfrm>
          <a:off x="2287116" y="1037"/>
          <a:ext cx="4665716" cy="29627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32C343-9F72-CC44-9A1E-78AD32D00B66}">
      <dsp:nvSpPr>
        <dsp:cNvPr id="0" name=""/>
        <dsp:cNvSpPr/>
      </dsp:nvSpPr>
      <dsp:spPr>
        <a:xfrm>
          <a:off x="2805529" y="493529"/>
          <a:ext cx="4665716" cy="29627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Quarter 4: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company invested over $2.15 million in R&amp;D to enhance bike designs, leading to an operating loss of $2.25 million due to high expenses. Despite efforts in system improvements and marketing, the negative net income reached $2.32 million.</a:t>
          </a:r>
        </a:p>
      </dsp:txBody>
      <dsp:txXfrm>
        <a:off x="2892304" y="580304"/>
        <a:ext cx="4492166" cy="27891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C6F0CA-13D6-A444-8F90-FEF9428188D1}">
      <dsp:nvSpPr>
        <dsp:cNvPr id="0" name=""/>
        <dsp:cNvSpPr/>
      </dsp:nvSpPr>
      <dsp:spPr>
        <a:xfrm>
          <a:off x="1191" y="180467"/>
          <a:ext cx="4181134" cy="2655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48C08F-E6BF-BA4E-B236-5130825737C3}">
      <dsp:nvSpPr>
        <dsp:cNvPr id="0" name=""/>
        <dsp:cNvSpPr/>
      </dsp:nvSpPr>
      <dsp:spPr>
        <a:xfrm>
          <a:off x="465761" y="621809"/>
          <a:ext cx="4181134" cy="2655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Quarter 5:</a:t>
          </a:r>
        </a:p>
      </dsp:txBody>
      <dsp:txXfrm>
        <a:off x="543524" y="699572"/>
        <a:ext cx="4025608" cy="2499494"/>
      </dsp:txXfrm>
    </dsp:sp>
    <dsp:sp modelId="{F020CB63-10D7-7640-A7A5-C4B97C612755}">
      <dsp:nvSpPr>
        <dsp:cNvPr id="0" name=""/>
        <dsp:cNvSpPr/>
      </dsp:nvSpPr>
      <dsp:spPr>
        <a:xfrm>
          <a:off x="5111466" y="180467"/>
          <a:ext cx="4181134" cy="2655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8E6EC4-2DE9-6943-8D16-E474780FBC2A}">
      <dsp:nvSpPr>
        <dsp:cNvPr id="0" name=""/>
        <dsp:cNvSpPr/>
      </dsp:nvSpPr>
      <dsp:spPr>
        <a:xfrm>
          <a:off x="5576036" y="621809"/>
          <a:ext cx="4181134" cy="2655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To address the challenges of Q4, the team optimized production costs and reduced R&amp;D spending to $886,794. The launch of new models like BlazeRush Pro2 and SmoothGlider3.0 boosted revenue to $3.95 million and a net income of $241,204. </a:t>
          </a:r>
        </a:p>
      </dsp:txBody>
      <dsp:txXfrm>
        <a:off x="5653799" y="699572"/>
        <a:ext cx="4025608" cy="24994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C6F0CA-13D6-A444-8F90-FEF9428188D1}">
      <dsp:nvSpPr>
        <dsp:cNvPr id="0" name=""/>
        <dsp:cNvSpPr/>
      </dsp:nvSpPr>
      <dsp:spPr>
        <a:xfrm>
          <a:off x="1191" y="180467"/>
          <a:ext cx="4181134" cy="2655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48C08F-E6BF-BA4E-B236-5130825737C3}">
      <dsp:nvSpPr>
        <dsp:cNvPr id="0" name=""/>
        <dsp:cNvSpPr/>
      </dsp:nvSpPr>
      <dsp:spPr>
        <a:xfrm>
          <a:off x="465761" y="621809"/>
          <a:ext cx="4181134" cy="2655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Quarter 6:</a:t>
          </a:r>
        </a:p>
      </dsp:txBody>
      <dsp:txXfrm>
        <a:off x="543524" y="699572"/>
        <a:ext cx="4025608" cy="2499494"/>
      </dsp:txXfrm>
    </dsp:sp>
    <dsp:sp modelId="{17134675-9517-C54C-A509-AE9CA05C04B2}">
      <dsp:nvSpPr>
        <dsp:cNvPr id="0" name=""/>
        <dsp:cNvSpPr/>
      </dsp:nvSpPr>
      <dsp:spPr>
        <a:xfrm>
          <a:off x="5111466" y="180467"/>
          <a:ext cx="4181134" cy="2655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7D4E7F-0AAC-3943-BAEB-D4FA4A08EBAC}">
      <dsp:nvSpPr>
        <dsp:cNvPr id="0" name=""/>
        <dsp:cNvSpPr/>
      </dsp:nvSpPr>
      <dsp:spPr>
        <a:xfrm>
          <a:off x="5576036" y="621809"/>
          <a:ext cx="4181134" cy="2655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company invested $736,794 in R&amp;D for innovative features and maintained strong marketing efforts. Revenue soared to $8.48 million, with a gross profit $5.24 million. Controlled expenses led to an operating profit of $4.02 million and a net income of $3.48 million. The cash balance rose to $4.13 million.</a:t>
          </a:r>
        </a:p>
      </dsp:txBody>
      <dsp:txXfrm>
        <a:off x="5653799" y="699572"/>
        <a:ext cx="4025608" cy="24994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60E9F2-EC25-4564-91CC-463DA80F30F8}">
      <dsp:nvSpPr>
        <dsp:cNvPr id="0" name=""/>
        <dsp:cNvSpPr/>
      </dsp:nvSpPr>
      <dsp:spPr>
        <a:xfrm>
          <a:off x="755250" y="645611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D64B9-AEBA-498F-8586-D5D4F630383E}">
      <dsp:nvSpPr>
        <dsp:cNvPr id="0" name=""/>
        <dsp:cNvSpPr/>
      </dsp:nvSpPr>
      <dsp:spPr>
        <a:xfrm>
          <a:off x="989250" y="87961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CC8D71-FC6B-4920-BA28-D384071408B0}">
      <dsp:nvSpPr>
        <dsp:cNvPr id="0" name=""/>
        <dsp:cNvSpPr/>
      </dsp:nvSpPr>
      <dsp:spPr>
        <a:xfrm>
          <a:off x="404250" y="208561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/>
            <a:t>Product Line Enhancement</a:t>
          </a:r>
          <a:endParaRPr lang="en-US" sz="1800" kern="1200"/>
        </a:p>
      </dsp:txBody>
      <dsp:txXfrm>
        <a:off x="404250" y="2085612"/>
        <a:ext cx="1800000" cy="720000"/>
      </dsp:txXfrm>
    </dsp:sp>
    <dsp:sp modelId="{42F02852-5707-4532-BFB0-D0FDCDA7D993}">
      <dsp:nvSpPr>
        <dsp:cNvPr id="0" name=""/>
        <dsp:cNvSpPr/>
      </dsp:nvSpPr>
      <dsp:spPr>
        <a:xfrm>
          <a:off x="2870250" y="645611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CA4BD8-937A-49CD-BFDF-81627ED17F84}">
      <dsp:nvSpPr>
        <dsp:cNvPr id="0" name=""/>
        <dsp:cNvSpPr/>
      </dsp:nvSpPr>
      <dsp:spPr>
        <a:xfrm>
          <a:off x="3104250" y="879611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CE6F47-8414-417C-99EB-57B1FCCF414E}">
      <dsp:nvSpPr>
        <dsp:cNvPr id="0" name=""/>
        <dsp:cNvSpPr/>
      </dsp:nvSpPr>
      <dsp:spPr>
        <a:xfrm>
          <a:off x="2519250" y="208561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/>
            <a:t>Expansion Plans</a:t>
          </a:r>
          <a:endParaRPr lang="en-US" sz="1800" kern="1200"/>
        </a:p>
      </dsp:txBody>
      <dsp:txXfrm>
        <a:off x="2519250" y="2085612"/>
        <a:ext cx="1800000" cy="720000"/>
      </dsp:txXfrm>
    </dsp:sp>
    <dsp:sp modelId="{67A667F1-7211-4483-B51D-30AE4E70A821}">
      <dsp:nvSpPr>
        <dsp:cNvPr id="0" name=""/>
        <dsp:cNvSpPr/>
      </dsp:nvSpPr>
      <dsp:spPr>
        <a:xfrm>
          <a:off x="4985250" y="645611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6C1C76-10C0-4C0C-B822-B8FBAC113ECB}">
      <dsp:nvSpPr>
        <dsp:cNvPr id="0" name=""/>
        <dsp:cNvSpPr/>
      </dsp:nvSpPr>
      <dsp:spPr>
        <a:xfrm>
          <a:off x="5219250" y="879611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939C3E-F1DD-4026-9CFB-B47CFD44C213}">
      <dsp:nvSpPr>
        <dsp:cNvPr id="0" name=""/>
        <dsp:cNvSpPr/>
      </dsp:nvSpPr>
      <dsp:spPr>
        <a:xfrm>
          <a:off x="4634250" y="208561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/>
            <a:t>Market Growth</a:t>
          </a:r>
          <a:endParaRPr lang="en-US" sz="1800" kern="1200"/>
        </a:p>
      </dsp:txBody>
      <dsp:txXfrm>
        <a:off x="4634250" y="2085612"/>
        <a:ext cx="1800000" cy="720000"/>
      </dsp:txXfrm>
    </dsp:sp>
    <dsp:sp modelId="{22D0093A-A368-46AF-96F6-397AED6FF07C}">
      <dsp:nvSpPr>
        <dsp:cNvPr id="0" name=""/>
        <dsp:cNvSpPr/>
      </dsp:nvSpPr>
      <dsp:spPr>
        <a:xfrm>
          <a:off x="7100250" y="645611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4A6E60-BB39-4F7A-ABB6-F33244965287}">
      <dsp:nvSpPr>
        <dsp:cNvPr id="0" name=""/>
        <dsp:cNvSpPr/>
      </dsp:nvSpPr>
      <dsp:spPr>
        <a:xfrm>
          <a:off x="7334250" y="879611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BB0294-DC2C-4D39-9C2A-80D694AC4CDE}">
      <dsp:nvSpPr>
        <dsp:cNvPr id="0" name=""/>
        <dsp:cNvSpPr/>
      </dsp:nvSpPr>
      <dsp:spPr>
        <a:xfrm>
          <a:off x="6749250" y="208561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/>
            <a:t>Retail Partnerships</a:t>
          </a:r>
          <a:endParaRPr lang="en-US" sz="1800" kern="1200"/>
        </a:p>
      </dsp:txBody>
      <dsp:txXfrm>
        <a:off x="6749250" y="2085612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C481B4-96CD-4115-AC94-13BD550DD970}">
      <dsp:nvSpPr>
        <dsp:cNvPr id="0" name=""/>
        <dsp:cNvSpPr/>
      </dsp:nvSpPr>
      <dsp:spPr>
        <a:xfrm>
          <a:off x="1464562" y="15611"/>
          <a:ext cx="2058750" cy="20587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6BC709-4C83-4EC6-BCFE-13DE8395E15E}">
      <dsp:nvSpPr>
        <dsp:cNvPr id="0" name=""/>
        <dsp:cNvSpPr/>
      </dsp:nvSpPr>
      <dsp:spPr>
        <a:xfrm>
          <a:off x="1903312" y="454361"/>
          <a:ext cx="1181250" cy="11812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CF7C68-F6D0-4113-A5DE-CAF7285D92C1}">
      <dsp:nvSpPr>
        <dsp:cNvPr id="0" name=""/>
        <dsp:cNvSpPr/>
      </dsp:nvSpPr>
      <dsp:spPr>
        <a:xfrm>
          <a:off x="806437" y="2715612"/>
          <a:ext cx="33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Continuous improvement of bicycle lineup through both customer feedback and market analysis</a:t>
          </a:r>
        </a:p>
      </dsp:txBody>
      <dsp:txXfrm>
        <a:off x="806437" y="2715612"/>
        <a:ext cx="3375000" cy="720000"/>
      </dsp:txXfrm>
    </dsp:sp>
    <dsp:sp modelId="{EC612E12-E478-45A6-95F4-7DB5BB367022}">
      <dsp:nvSpPr>
        <dsp:cNvPr id="0" name=""/>
        <dsp:cNvSpPr/>
      </dsp:nvSpPr>
      <dsp:spPr>
        <a:xfrm>
          <a:off x="5430187" y="15611"/>
          <a:ext cx="2058750" cy="20587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BE26DB-5C16-4BC5-BAEB-4E3C618882FD}">
      <dsp:nvSpPr>
        <dsp:cNvPr id="0" name=""/>
        <dsp:cNvSpPr/>
      </dsp:nvSpPr>
      <dsp:spPr>
        <a:xfrm>
          <a:off x="5868937" y="454361"/>
          <a:ext cx="1181250" cy="11812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C03108-3461-4444-91A7-BAEBD77A6CE5}">
      <dsp:nvSpPr>
        <dsp:cNvPr id="0" name=""/>
        <dsp:cNvSpPr/>
      </dsp:nvSpPr>
      <dsp:spPr>
        <a:xfrm>
          <a:off x="4772062" y="2715612"/>
          <a:ext cx="33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Data Driven Decisions will enhance market performance</a:t>
          </a:r>
        </a:p>
      </dsp:txBody>
      <dsp:txXfrm>
        <a:off x="4772062" y="2715612"/>
        <a:ext cx="3375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3959EA-E0B7-564A-AAE1-D7C349358BE1}">
      <dsp:nvSpPr>
        <dsp:cNvPr id="0" name=""/>
        <dsp:cNvSpPr/>
      </dsp:nvSpPr>
      <dsp:spPr>
        <a:xfrm>
          <a:off x="0" y="793188"/>
          <a:ext cx="2518171" cy="15990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F650AD-6E70-3E41-AAB0-57C78C9B9ECC}">
      <dsp:nvSpPr>
        <dsp:cNvPr id="0" name=""/>
        <dsp:cNvSpPr/>
      </dsp:nvSpPr>
      <dsp:spPr>
        <a:xfrm>
          <a:off x="279796" y="1058995"/>
          <a:ext cx="2518171" cy="15990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Currently selling 5 bike models with plans to introduce more for diverse market segments</a:t>
          </a:r>
        </a:p>
      </dsp:txBody>
      <dsp:txXfrm>
        <a:off x="326630" y="1105829"/>
        <a:ext cx="2424503" cy="1505371"/>
      </dsp:txXfrm>
    </dsp:sp>
    <dsp:sp modelId="{99147387-09DB-E943-BD9E-12AB9C894A3D}">
      <dsp:nvSpPr>
        <dsp:cNvPr id="0" name=""/>
        <dsp:cNvSpPr/>
      </dsp:nvSpPr>
      <dsp:spPr>
        <a:xfrm>
          <a:off x="3077765" y="793188"/>
          <a:ext cx="2518171" cy="15990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86540-EB76-3544-B8BC-F5806A1FF1C5}">
      <dsp:nvSpPr>
        <dsp:cNvPr id="0" name=""/>
        <dsp:cNvSpPr/>
      </dsp:nvSpPr>
      <dsp:spPr>
        <a:xfrm>
          <a:off x="3357562" y="1058995"/>
          <a:ext cx="2518171" cy="15990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Target audience includes casual riders ,enthusiasts and professional cyclists</a:t>
          </a:r>
        </a:p>
      </dsp:txBody>
      <dsp:txXfrm>
        <a:off x="3404396" y="1105829"/>
        <a:ext cx="2424503" cy="1505371"/>
      </dsp:txXfrm>
    </dsp:sp>
    <dsp:sp modelId="{F66FA766-E2FD-1F40-B6F0-F024E9F856C2}">
      <dsp:nvSpPr>
        <dsp:cNvPr id="0" name=""/>
        <dsp:cNvSpPr/>
      </dsp:nvSpPr>
      <dsp:spPr>
        <a:xfrm>
          <a:off x="6155531" y="793188"/>
          <a:ext cx="2518171" cy="15990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3C976B-B168-F745-917E-ED881CE3D41C}">
      <dsp:nvSpPr>
        <dsp:cNvPr id="0" name=""/>
        <dsp:cNvSpPr/>
      </dsp:nvSpPr>
      <dsp:spPr>
        <a:xfrm>
          <a:off x="6435328" y="1058995"/>
          <a:ext cx="2518171" cy="15990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Effective expansion is shown in Q5 with new products BlazeRush Pro 2 and SmoothGlider </a:t>
          </a:r>
          <a:r>
            <a:rPr lang="en-US" sz="1900" b="1" kern="1200"/>
            <a:t>3.0</a:t>
          </a:r>
          <a:endParaRPr lang="en-US" sz="1900" kern="1200"/>
        </a:p>
      </dsp:txBody>
      <dsp:txXfrm>
        <a:off x="6482162" y="1105829"/>
        <a:ext cx="2424503" cy="150537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9FF68B-8185-452B-A6BE-696E1BDF8F5E}">
      <dsp:nvSpPr>
        <dsp:cNvPr id="0" name=""/>
        <dsp:cNvSpPr/>
      </dsp:nvSpPr>
      <dsp:spPr>
        <a:xfrm>
          <a:off x="0" y="665"/>
          <a:ext cx="5893117" cy="15562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DB676F-664A-47D4-97C1-D8736134CD56}">
      <dsp:nvSpPr>
        <dsp:cNvPr id="0" name=""/>
        <dsp:cNvSpPr/>
      </dsp:nvSpPr>
      <dsp:spPr>
        <a:xfrm>
          <a:off x="470773" y="350827"/>
          <a:ext cx="855952" cy="8559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B82B35-06CF-4DA1-BD15-90C555499345}">
      <dsp:nvSpPr>
        <dsp:cNvPr id="0" name=""/>
        <dsp:cNvSpPr/>
      </dsp:nvSpPr>
      <dsp:spPr>
        <a:xfrm>
          <a:off x="1797499" y="665"/>
          <a:ext cx="4095617" cy="1556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706" tIns="164706" rIns="164706" bIns="16470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Plans to open stores in high traffic areas to boost visibility and sales</a:t>
          </a:r>
        </a:p>
      </dsp:txBody>
      <dsp:txXfrm>
        <a:off x="1797499" y="665"/>
        <a:ext cx="4095617" cy="1556276"/>
      </dsp:txXfrm>
    </dsp:sp>
    <dsp:sp modelId="{0F96A041-9515-47C7-B39A-CEF5A786B514}">
      <dsp:nvSpPr>
        <dsp:cNvPr id="0" name=""/>
        <dsp:cNvSpPr/>
      </dsp:nvSpPr>
      <dsp:spPr>
        <a:xfrm>
          <a:off x="0" y="1946011"/>
          <a:ext cx="5893117" cy="15562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D591A4-E642-4409-96EC-4633B5494940}">
      <dsp:nvSpPr>
        <dsp:cNvPr id="0" name=""/>
        <dsp:cNvSpPr/>
      </dsp:nvSpPr>
      <dsp:spPr>
        <a:xfrm>
          <a:off x="470773" y="2296173"/>
          <a:ext cx="855952" cy="8559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DDB0A3-0E4D-475C-A63F-598875A2EF8A}">
      <dsp:nvSpPr>
        <dsp:cNvPr id="0" name=""/>
        <dsp:cNvSpPr/>
      </dsp:nvSpPr>
      <dsp:spPr>
        <a:xfrm>
          <a:off x="1797499" y="1946011"/>
          <a:ext cx="4095617" cy="1556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706" tIns="164706" rIns="164706" bIns="16470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Exploring deals with major retailers for broader customer reach and cost reduction</a:t>
          </a:r>
        </a:p>
      </dsp:txBody>
      <dsp:txXfrm>
        <a:off x="1797499" y="1946011"/>
        <a:ext cx="4095617" cy="1556276"/>
      </dsp:txXfrm>
    </dsp:sp>
    <dsp:sp modelId="{7ED6E4C3-1B00-43C5-88C1-7CB4BCE599C1}">
      <dsp:nvSpPr>
        <dsp:cNvPr id="0" name=""/>
        <dsp:cNvSpPr/>
      </dsp:nvSpPr>
      <dsp:spPr>
        <a:xfrm>
          <a:off x="0" y="3891357"/>
          <a:ext cx="5893117" cy="15562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1FC718-A6D3-48CE-AA06-3B4550CDE03F}">
      <dsp:nvSpPr>
        <dsp:cNvPr id="0" name=""/>
        <dsp:cNvSpPr/>
      </dsp:nvSpPr>
      <dsp:spPr>
        <a:xfrm>
          <a:off x="470773" y="4241519"/>
          <a:ext cx="855952" cy="8559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B618DA-BB1D-48F7-9284-4A2539DE86B3}">
      <dsp:nvSpPr>
        <dsp:cNvPr id="0" name=""/>
        <dsp:cNvSpPr/>
      </dsp:nvSpPr>
      <dsp:spPr>
        <a:xfrm>
          <a:off x="1797499" y="3891357"/>
          <a:ext cx="4095617" cy="1556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706" tIns="164706" rIns="164706" bIns="16470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Benefits include shared marketing, storage and distribution , and potentially leading to wholesale opportunities. </a:t>
          </a:r>
        </a:p>
      </dsp:txBody>
      <dsp:txXfrm>
        <a:off x="1797499" y="3891357"/>
        <a:ext cx="4095617" cy="155627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6E16EE-6D66-4071-9623-2A3E9E86D98C}">
      <dsp:nvSpPr>
        <dsp:cNvPr id="0" name=""/>
        <dsp:cNvSpPr/>
      </dsp:nvSpPr>
      <dsp:spPr>
        <a:xfrm>
          <a:off x="0" y="665"/>
          <a:ext cx="5893117" cy="15562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38D9BB-1868-4502-85C8-E7B0C5BB1472}">
      <dsp:nvSpPr>
        <dsp:cNvPr id="0" name=""/>
        <dsp:cNvSpPr/>
      </dsp:nvSpPr>
      <dsp:spPr>
        <a:xfrm>
          <a:off x="470773" y="350827"/>
          <a:ext cx="855952" cy="8559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4CD898-9B95-4849-9508-B45A7577907B}">
      <dsp:nvSpPr>
        <dsp:cNvPr id="0" name=""/>
        <dsp:cNvSpPr/>
      </dsp:nvSpPr>
      <dsp:spPr>
        <a:xfrm>
          <a:off x="1797499" y="665"/>
          <a:ext cx="4095617" cy="1556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706" tIns="164706" rIns="164706" bIns="16470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Balance ethical responsibilities with calculated risks</a:t>
          </a:r>
        </a:p>
      </dsp:txBody>
      <dsp:txXfrm>
        <a:off x="1797499" y="665"/>
        <a:ext cx="4095617" cy="1556276"/>
      </dsp:txXfrm>
    </dsp:sp>
    <dsp:sp modelId="{19699D30-023D-4AB1-8E37-3D3E8D49242C}">
      <dsp:nvSpPr>
        <dsp:cNvPr id="0" name=""/>
        <dsp:cNvSpPr/>
      </dsp:nvSpPr>
      <dsp:spPr>
        <a:xfrm>
          <a:off x="0" y="1946011"/>
          <a:ext cx="5893117" cy="15562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1E701B-3A69-468A-A8D7-75EF502A2DFE}">
      <dsp:nvSpPr>
        <dsp:cNvPr id="0" name=""/>
        <dsp:cNvSpPr/>
      </dsp:nvSpPr>
      <dsp:spPr>
        <a:xfrm>
          <a:off x="470773" y="2296173"/>
          <a:ext cx="855952" cy="8559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7F8CA2-0A4D-42BB-93EF-A39909904AD0}">
      <dsp:nvSpPr>
        <dsp:cNvPr id="0" name=""/>
        <dsp:cNvSpPr/>
      </dsp:nvSpPr>
      <dsp:spPr>
        <a:xfrm>
          <a:off x="1797499" y="1946011"/>
          <a:ext cx="4095617" cy="1556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706" tIns="164706" rIns="164706" bIns="16470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Recommit to mission for strong market presence</a:t>
          </a:r>
        </a:p>
      </dsp:txBody>
      <dsp:txXfrm>
        <a:off x="1797499" y="1946011"/>
        <a:ext cx="4095617" cy="1556276"/>
      </dsp:txXfrm>
    </dsp:sp>
    <dsp:sp modelId="{D333C1C2-718E-47E0-891B-128BFC944712}">
      <dsp:nvSpPr>
        <dsp:cNvPr id="0" name=""/>
        <dsp:cNvSpPr/>
      </dsp:nvSpPr>
      <dsp:spPr>
        <a:xfrm>
          <a:off x="0" y="3891357"/>
          <a:ext cx="5893117" cy="15562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0D4E62-3261-4222-8364-721C2797B9D9}">
      <dsp:nvSpPr>
        <dsp:cNvPr id="0" name=""/>
        <dsp:cNvSpPr/>
      </dsp:nvSpPr>
      <dsp:spPr>
        <a:xfrm>
          <a:off x="470773" y="4241519"/>
          <a:ext cx="855952" cy="8559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307EED-3DF2-46D1-A3B4-863DB18D72D6}">
      <dsp:nvSpPr>
        <dsp:cNvPr id="0" name=""/>
        <dsp:cNvSpPr/>
      </dsp:nvSpPr>
      <dsp:spPr>
        <a:xfrm>
          <a:off x="1797499" y="3891357"/>
          <a:ext cx="4095617" cy="1556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706" tIns="164706" rIns="164706" bIns="16470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Position Elite Carbon Cycles as a market leader and trusted brand</a:t>
          </a:r>
        </a:p>
      </dsp:txBody>
      <dsp:txXfrm>
        <a:off x="1797499" y="3891357"/>
        <a:ext cx="4095617" cy="15562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AC85D8-F478-8C4B-A2CB-F2D8E90D6D69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166D2A-2B3A-674F-9E89-271A18640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594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6A15-6E39-4FFA-B5DC-89EB633E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1371600"/>
            <a:ext cx="8127574" cy="2736443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69311-3201-45EC-B973-82EC27DA5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4299358"/>
            <a:ext cx="8127574" cy="1187042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AE4B9-EDEF-4A2C-B464-332C5C62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028E-14B2-3145-9324-4D9FBB0C78E8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4C951-4861-4549-8E72-CEECA89E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E1401-5637-41BC-AC21-89105645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11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3747-9ADB-4FCC-89CE-6E84D134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C9C6-5D7D-4249-8820-D4C99D0A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F35F7-46A1-40A9-ACD7-C4923992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D4794-08DD-1C48-9664-3502959052C3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45637-B780-4999-A87D-0039BC5A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9777F-E471-4CC5-B27B-137CB061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7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CB1D-064E-46DE-B533-7CDA331E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2748406"/>
            <a:ext cx="8115300" cy="273799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222C0-D002-4A94-BAFF-FD1A1CCA6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1371600"/>
            <a:ext cx="8115300" cy="133327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7D7E-EC9F-4AA5-A559-EF556C6A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4293B-0313-004D-9A01-2D7FD72EA42C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7A8EE-88C1-400C-A23F-656DC76B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45A4-F9C6-44E9-929F-78C657C8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37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F34F-B65E-4FA0-87E8-8890F482B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9382348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5A67-10CA-4531-93E1-39892C087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8297" y="2057400"/>
            <a:ext cx="4553103" cy="4125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2BE36-0CAF-4D92-9AC2-9249276B9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0" y="2057400"/>
            <a:ext cx="4543647" cy="4125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36479-3B04-43BD-9B59-DBF6CA2B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ACE8D-CBF5-E34E-A7C7-9BBF12EBE8DC}" type="datetime1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D4449-57DB-41D2-B49E-694E7C13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0CC2C-E50B-47D2-B62F-D5C4C9CD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23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530B-D0F2-4FC4-A10F-1E54EF82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755118"/>
            <a:ext cx="9378304" cy="12227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8865C-9D06-4FA3-BA3D-7187BB41B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56570-8F97-4B7E-A805-96925AC47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8300" y="2748405"/>
            <a:ext cx="4529391" cy="3441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7EF54-F63F-4730-99EE-0E472578F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87213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8453E-B012-4889-9F49-E1351532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87213" y="2748405"/>
            <a:ext cx="4529391" cy="3441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FC47A-8514-4C98-B1BE-FF6CC666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380A3-67CA-5F43-810E-5B0CF46E43B1}" type="datetime1">
              <a:rPr lang="en-US" smtClean="0"/>
              <a:t>10/3/2024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4301A-D375-4163-9488-27A9CDC6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D6105-4A37-4D4B-9BE8-715FB732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34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007F-6649-4D23-8869-C1CC29D00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B85A1-41F9-4BC1-9C40-3E5D5C04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0EB7-EB35-B542-819F-D7B19A162132}" type="datetime1">
              <a:rPr lang="en-US" smtClean="0"/>
              <a:t>10/3/2024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23774-EAA9-47ED-87EF-EE2B29A2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26550-DD4D-45E2-8916-8314C5D0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236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5FACD-1A4D-49F3-8EA8-21B5C1A6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03F4B-3BC6-0C47-B4A4-133AE85B3279}" type="datetime1">
              <a:rPr lang="en-US" smtClean="0"/>
              <a:t>10/3/2024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FD9DD-0E4E-4C36-AF85-B3EAD7FE6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6F4C8-14FA-4405-85EE-ABF53FB0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03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7C28-5DEE-493D-ABAD-38E4F2D7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621" y="1085481"/>
            <a:ext cx="365118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E79C5-E567-4F12-96B8-8BBEAE3D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900" y="1132676"/>
            <a:ext cx="5289480" cy="4728374"/>
          </a:xfrm>
        </p:spPr>
        <p:txBody>
          <a:bodyPr/>
          <a:lstStyle>
            <a:lvl1pPr>
              <a:lnSpc>
                <a:spcPct val="110000"/>
              </a:lnSpc>
              <a:defRPr sz="3200"/>
            </a:lvl1pPr>
            <a:lvl2pPr>
              <a:lnSpc>
                <a:spcPct val="110000"/>
              </a:lnSpc>
              <a:defRPr sz="2800"/>
            </a:lvl2pPr>
            <a:lvl3pPr>
              <a:lnSpc>
                <a:spcPct val="110000"/>
              </a:lnSpc>
              <a:defRPr sz="2400"/>
            </a:lvl3pPr>
            <a:lvl4pPr>
              <a:lnSpc>
                <a:spcPct val="110000"/>
              </a:lnSpc>
              <a:defRPr sz="2000"/>
            </a:lvl4pPr>
            <a:lvl5pPr>
              <a:lnSpc>
                <a:spcPct val="11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3DF7F-0B5C-40CE-A65F-779FA7EFB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5621" y="2748406"/>
            <a:ext cx="365118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2248C-1826-4833-9592-383B5873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FC2A7-F72F-9947-A081-449EEA453344}" type="datetime1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219DC-2646-42AD-897A-EB765DCB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238D7-4EEA-475B-B1CA-C44B89BE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65BE-C907-4660-A586-71C6A1D1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85481"/>
            <a:ext cx="365760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4C8A9-67DF-419C-B2FC-3A879CCEF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6900" y="1061885"/>
            <a:ext cx="5331069" cy="47755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A94A1-3058-402A-9C3F-2F210D91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2748406"/>
            <a:ext cx="365760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3CA50-C8D8-4F83-B2F6-BCE825866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DD6D-9FE1-DE4B-B783-2C570B8ED80A}" type="datetime1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E5BE3-7B02-4281-BD90-C1FAAF63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E256D-ACD5-438F-BA6F-605E5260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11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D0E6-AD36-493C-9DC3-5ACC2059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B8558-FA83-4F6C-A6D1-2DF9D3F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38299" y="2057399"/>
            <a:ext cx="8915401" cy="4114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DE619-0CC6-4480-ABDE-277D36BD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8664-EEF0-E043-922D-DEB0F5573B96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791E6-BE35-4ECA-8AD1-E8EC09B8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94606-B928-42D6-85CC-9576F60E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49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F18D8A-5002-491C-922A-E9624E2DB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882C6-2BE9-4E25-B8BB-A2346A2B0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BEFF9-B3BC-4C07-BF6C-2E3C91B5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3A39-091F-8B4B-AF48-1435CD466010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F4CF6-CDF1-4AFD-8319-71FD4FED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1A026-57F4-47F7-B4F0-E0D48E01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004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1A689-589E-4A73-9313-EF44F7E4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B11B8-9E77-4144-B9C1-FD164D9A1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57400"/>
            <a:ext cx="8915402" cy="4137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6E4CC-CF79-4C8D-9E5F-1BB517435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1001475" y="1517536"/>
            <a:ext cx="28011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3590E2C7-1E90-D64C-A1A3-80771AD27948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79449-05F6-4BC7-95DF-F04E1F161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118764" y="4237870"/>
            <a:ext cx="3344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17FE5-2D1F-4ECC-9460-08145C3BB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8877" y="6319138"/>
            <a:ext cx="710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57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youtube.com/watch?v=vAuzKWW6-v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F592565B-E81C-4A1C-9667-7CBCF2AC5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F914DDC-D2A9-4C86-B057-CDBB8F174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2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39C7114-BEDD-41AE-8645-0502136A6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38302" y="2743198"/>
            <a:ext cx="10553698" cy="4114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BDCF94-5FD7-C5CA-F5DF-506881A75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0240" y="618408"/>
            <a:ext cx="9457059" cy="15063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Elite Carbon Cycle</a:t>
            </a:r>
            <a:b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Annual Report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DA1934-13FB-8BE2-7979-171B233DD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3429000"/>
            <a:ext cx="6476997" cy="284770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300" b="1"/>
              <a:t>Caroline Boucher-VP of Sales Management/Marketing</a:t>
            </a:r>
          </a:p>
          <a:p>
            <a:pPr>
              <a:lnSpc>
                <a:spcPct val="110000"/>
              </a:lnSpc>
            </a:pPr>
            <a:r>
              <a:rPr lang="en-US" sz="1300" b="1"/>
              <a:t>Max Santa-President/VP of Sales Analytics </a:t>
            </a:r>
          </a:p>
          <a:p>
            <a:pPr>
              <a:lnSpc>
                <a:spcPct val="110000"/>
              </a:lnSpc>
            </a:pPr>
            <a:r>
              <a:rPr lang="en-US" sz="1300" b="1"/>
              <a:t>Matthew </a:t>
            </a:r>
            <a:r>
              <a:rPr lang="en-US" sz="1300" b="1" err="1"/>
              <a:t>Borchick</a:t>
            </a:r>
            <a:r>
              <a:rPr lang="en-US" sz="1300" b="1"/>
              <a:t>-VP of Accounting and Finance/ Business Analytics</a:t>
            </a:r>
          </a:p>
          <a:p>
            <a:pPr>
              <a:lnSpc>
                <a:spcPct val="110000"/>
              </a:lnSpc>
            </a:pPr>
            <a:r>
              <a:rPr lang="en-US" sz="1300" b="1"/>
              <a:t>Nayla Brown-VP of HR/Manufacturing</a:t>
            </a:r>
          </a:p>
          <a:p>
            <a:pPr>
              <a:lnSpc>
                <a:spcPct val="110000"/>
              </a:lnSpc>
            </a:pPr>
            <a:r>
              <a:rPr lang="en-US" sz="1300" b="1"/>
              <a:t>Ariana Teel-VP of Marketing/HR</a:t>
            </a:r>
          </a:p>
          <a:p>
            <a:pPr>
              <a:lnSpc>
                <a:spcPct val="110000"/>
              </a:lnSpc>
            </a:pPr>
            <a:endParaRPr lang="en-US" sz="1300" b="1"/>
          </a:p>
          <a:p>
            <a:pPr>
              <a:lnSpc>
                <a:spcPct val="110000"/>
              </a:lnSpc>
            </a:pPr>
            <a:r>
              <a:rPr lang="en-US" sz="1300" b="1">
                <a:hlinkClick r:id="rId2"/>
              </a:rPr>
              <a:t>Click Here for link to Presentation</a:t>
            </a:r>
          </a:p>
        </p:txBody>
      </p:sp>
      <p:pic>
        <p:nvPicPr>
          <p:cNvPr id="4" name="Picture 3" descr="A white and blue maze&#10;&#10;Description automatically generated">
            <a:extLst>
              <a:ext uri="{FF2B5EF4-FFF2-40B4-BE49-F238E27FC236}">
                <a16:creationId xmlns:a16="http://schemas.microsoft.com/office/drawing/2014/main" id="{9A59813A-F29A-0549-4363-F70FB57B86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6"/>
          <a:stretch/>
        </p:blipFill>
        <p:spPr>
          <a:xfrm>
            <a:off x="8115300" y="2743200"/>
            <a:ext cx="4076701" cy="41148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2A5885-0501-FF5F-6277-2D4CDEF3F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31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C426711-1D48-4471-A750-0C8F4193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914DDC-D2A9-4C86-B057-CDBB8F174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676" y="1"/>
            <a:ext cx="12196676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9C7114-BEDD-41AE-8645-0502136A6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38300" y="2057400"/>
            <a:ext cx="10558376" cy="480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3ABA16-31AD-1817-989D-91B82DC51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499" y="488619"/>
            <a:ext cx="9841658" cy="1075123"/>
          </a:xfrm>
        </p:spPr>
        <p:txBody>
          <a:bodyPr>
            <a:normAutofit/>
          </a:bodyPr>
          <a:lstStyle/>
          <a:p>
            <a:r>
              <a:rPr lang="en-US"/>
              <a:t>Elite Carbon Cycles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4FCA6-A774-B352-3FF4-4467CCCD5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1" y="2743199"/>
            <a:ext cx="4876800" cy="3533503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Elite Carbon Cycles, an innovative company breaking new ground in the carbon fiber bicycle industry through advanced 3D printing technology, had ambitious plans for Q4 to Q6.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Times New Roman" panose="02020603050405020304" pitchFamily="18" charset="0"/>
                <a:ea typeface="Aptos" panose="020B0004020202020204" pitchFamily="34" charset="0"/>
              </a:rPr>
              <a:t>Goals for Q4-Q6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-Commercialization of new brands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>
                <a:latin typeface="Times New Roman" panose="02020603050405020304" pitchFamily="18" charset="0"/>
                <a:ea typeface="Aptos" panose="020B0004020202020204" pitchFamily="34" charset="0"/>
              </a:rPr>
              <a:t>-Investment of R&amp;D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-System Improvements</a:t>
            </a:r>
          </a:p>
        </p:txBody>
      </p:sp>
      <p:pic>
        <p:nvPicPr>
          <p:cNvPr id="8" name="Graphic 7" descr="Bike">
            <a:extLst>
              <a:ext uri="{FF2B5EF4-FFF2-40B4-BE49-F238E27FC236}">
                <a16:creationId xmlns:a16="http://schemas.microsoft.com/office/drawing/2014/main" id="{8F1EF10F-0876-16F8-E2B8-0699E2921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5302" y="2819401"/>
            <a:ext cx="3276598" cy="32765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1E95F-B2E1-F1B5-B69A-4098FD4C5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637F8FC-4B86-4690-8888-22AB2F781BE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5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7E423D7-C345-48F2-96FA-F17F27557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432F0A-4843-6A5D-E3DB-819571FED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1" y="2342045"/>
            <a:ext cx="3476932" cy="2200458"/>
          </a:xfrm>
        </p:spPr>
        <p:txBody>
          <a:bodyPr anchor="ctr">
            <a:normAutofit/>
          </a:bodyPr>
          <a:lstStyle/>
          <a:p>
            <a:r>
              <a:rPr lang="en-US"/>
              <a:t>Overview of Business Plan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B366799-CADC-1770-320B-25BEA9D5B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637F8FC-4B86-4690-8888-22AB2F781BE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2F38962C-CDEF-2AE2-3F15-689A6E906A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2667395"/>
              </p:ext>
            </p:extLst>
          </p:nvPr>
        </p:nvGraphicFramePr>
        <p:xfrm>
          <a:off x="5303519" y="896701"/>
          <a:ext cx="5893117" cy="5032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8903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C426711-1D48-4471-A750-0C8F4193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914DDC-D2A9-4C86-B057-CDBB8F174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676" y="1"/>
            <a:ext cx="12196676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39C7114-BEDD-41AE-8645-0502136A6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38300" y="2057400"/>
            <a:ext cx="10558376" cy="480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DEE498-3E21-5D9B-F91C-5CA56A971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499" y="488619"/>
            <a:ext cx="9841658" cy="1075123"/>
          </a:xfrm>
        </p:spPr>
        <p:txBody>
          <a:bodyPr>
            <a:normAutofit/>
          </a:bodyPr>
          <a:lstStyle/>
          <a:p>
            <a:r>
              <a:rPr lang="en-US"/>
              <a:t>Q4 -Q6 Income Statement Results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564AFEA-6C41-715C-D9FB-A1C1A2BDB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1" y="2435320"/>
            <a:ext cx="4876800" cy="3533503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1400" b="1"/>
              <a:t>Income Statement Analysis (Appendix A)</a:t>
            </a: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400">
                <a:ea typeface="+mn-lt"/>
                <a:cs typeface="+mn-lt"/>
              </a:rPr>
              <a:t>Q4: Net loss of $2,318,048 (Appendix A)</a:t>
            </a:r>
            <a:endParaRPr lang="en-US" sz="1400" b="1"/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400">
                <a:ea typeface="+mn-lt"/>
                <a:cs typeface="+mn-lt"/>
              </a:rPr>
              <a:t>Q5: Modest net income of $241,204 (Appendix A)</a:t>
            </a:r>
            <a:endParaRPr lang="en-US" sz="1400"/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400">
                <a:ea typeface="+mn-lt"/>
                <a:cs typeface="+mn-lt"/>
              </a:rPr>
              <a:t>Q6: Remarkable net income of $3,480,233 (Appendix A)</a:t>
            </a:r>
            <a:endParaRPr lang="en-US" sz="1400"/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400"/>
              <a:t>Revenues soared from </a:t>
            </a:r>
            <a:r>
              <a:rPr lang="en-US" sz="1400" b="1"/>
              <a:t>$1,658,250 </a:t>
            </a:r>
            <a:r>
              <a:rPr lang="en-US" sz="1400"/>
              <a:t>in </a:t>
            </a:r>
            <a:r>
              <a:rPr lang="en-US" sz="1400" b="1"/>
              <a:t>Q4</a:t>
            </a:r>
            <a:r>
              <a:rPr lang="en-US" sz="1400"/>
              <a:t> to </a:t>
            </a:r>
            <a:r>
              <a:rPr lang="en-US" sz="1400" b="1"/>
              <a:t>$8,481,650 </a:t>
            </a:r>
            <a:r>
              <a:rPr lang="en-US" sz="1400"/>
              <a:t>in Q6, reflecting a </a:t>
            </a:r>
            <a:r>
              <a:rPr lang="en-US" sz="1400" b="1"/>
              <a:t>411%</a:t>
            </a:r>
            <a:r>
              <a:rPr lang="en-US" sz="1400"/>
              <a:t> increase</a:t>
            </a:r>
          </a:p>
          <a:p>
            <a:pPr>
              <a:lnSpc>
                <a:spcPct val="110000"/>
              </a:lnSpc>
            </a:pPr>
            <a:r>
              <a:rPr lang="en-US" sz="1400" b="1"/>
              <a:t>Expenses:</a:t>
            </a:r>
            <a:endParaRPr lang="en-US" sz="1400"/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400">
                <a:ea typeface="+mn-lt"/>
                <a:cs typeface="+mn-lt"/>
              </a:rPr>
              <a:t>R&amp;D Costs:</a:t>
            </a:r>
          </a:p>
          <a:p>
            <a:pPr lvl="2">
              <a:lnSpc>
                <a:spcPct val="110000"/>
              </a:lnSpc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Q4: $2,150,863</a:t>
            </a:r>
          </a:p>
          <a:p>
            <a:pPr lvl="2">
              <a:lnSpc>
                <a:spcPct val="110000"/>
              </a:lnSpc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Q5: $886,794</a:t>
            </a:r>
          </a:p>
          <a:p>
            <a:pPr lvl="2">
              <a:lnSpc>
                <a:spcPct val="110000"/>
              </a:lnSpc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Q6: $90,000</a:t>
            </a:r>
          </a:p>
          <a:p>
            <a:pPr lvl="2">
              <a:lnSpc>
                <a:spcPct val="110000"/>
              </a:lnSpc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Advertising and System Improvement Costs: Showed variability but stabilized towards Q6 (Appendix A)</a:t>
            </a:r>
            <a:endParaRPr lang="en-US"/>
          </a:p>
          <a:p>
            <a:pPr>
              <a:lnSpc>
                <a:spcPct val="110000"/>
              </a:lnSpc>
            </a:pPr>
            <a:endParaRPr lang="en-US" sz="1400"/>
          </a:p>
        </p:txBody>
      </p:sp>
      <p:pic>
        <p:nvPicPr>
          <p:cNvPr id="7" name="Graphic 6" descr="Dollar">
            <a:extLst>
              <a:ext uri="{FF2B5EF4-FFF2-40B4-BE49-F238E27FC236}">
                <a16:creationId xmlns:a16="http://schemas.microsoft.com/office/drawing/2014/main" id="{9140371D-9F9A-8651-D037-4B5FBF313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5302" y="2819401"/>
            <a:ext cx="3276598" cy="32765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D5D2C-1046-C2E6-B6F4-E9939EFA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637F8FC-4B86-4690-8888-22AB2F781BE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792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0FE9CC2-BA24-47CD-AE5E-A6BB2A464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40EA77-E10C-4170-BBB0-CE0419050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57400"/>
            <a:ext cx="5676900" cy="274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3A22E0-7C3C-F5C3-FA36-2F0330F4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446215"/>
            <a:ext cx="4209562" cy="1977294"/>
          </a:xfrm>
        </p:spPr>
        <p:txBody>
          <a:bodyPr anchor="ctr">
            <a:normAutofit/>
          </a:bodyPr>
          <a:lstStyle/>
          <a:p>
            <a:r>
              <a:rPr lang="en-US"/>
              <a:t>Q4 -Q6 Cash Flow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AD465-DF54-04AE-8403-9C3518A40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0" y="685800"/>
            <a:ext cx="4076700" cy="54863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/>
              <a:t>Cash Flow Analysis (Appendix B) 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Operational Cash Flow: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Q4: Negative $2,268,048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Q6: Positive $3,580,233</a:t>
            </a:r>
            <a:endParaRPr lang="en-US"/>
          </a:p>
          <a:p>
            <a:pPr marL="274320" lvl="1" indent="0">
              <a:buNone/>
            </a:pPr>
            <a:endParaRPr lang="en-US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Financing Activities: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Q4: Common stock increase of $2,500,000 and conventional loan of $2,000,000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Q5 &amp; Q6: Focus on loan repayments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Ending cash balance: $4,127,759 in Q6 (vs. $624,370 in Q4)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7541B-BD48-A697-EE05-B585959F8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637F8FC-4B86-4690-8888-22AB2F781BEF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87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C426711-1D48-4471-A750-0C8F4193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914DDC-D2A9-4C86-B057-CDBB8F174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676" y="1"/>
            <a:ext cx="12196676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9C7114-BEDD-41AE-8645-0502136A6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38300" y="2057400"/>
            <a:ext cx="10558376" cy="480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219FC-FCA9-C654-501F-21F376E7C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499" y="488619"/>
            <a:ext cx="9841658" cy="1075123"/>
          </a:xfrm>
        </p:spPr>
        <p:txBody>
          <a:bodyPr>
            <a:normAutofit/>
          </a:bodyPr>
          <a:lstStyle/>
          <a:p>
            <a:r>
              <a:rPr lang="en-US"/>
              <a:t>Q4 -Q6 Balance Sheet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A98B9-7114-9B20-C5FF-2B30F4BE2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2219" y="2550775"/>
            <a:ext cx="4876800" cy="353350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 b="1">
                <a:ea typeface="+mn-lt"/>
                <a:cs typeface="+mn-lt"/>
              </a:rPr>
              <a:t>Balance Sheet Analysis (Appendix C) :</a:t>
            </a:r>
            <a:endParaRPr lang="en-US" sz="1400"/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400">
                <a:ea typeface="+mn-lt"/>
                <a:cs typeface="+mn-lt"/>
              </a:rPr>
              <a:t>Total Assets:</a:t>
            </a:r>
          </a:p>
          <a:p>
            <a:pPr lvl="2">
              <a:lnSpc>
                <a:spcPct val="110000"/>
              </a:lnSpc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Q4: $4,066,322</a:t>
            </a:r>
          </a:p>
          <a:p>
            <a:pPr lvl="2">
              <a:lnSpc>
                <a:spcPct val="110000"/>
              </a:lnSpc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Q6: $6,287,759</a:t>
            </a:r>
          </a:p>
          <a:p>
            <a:pPr lvl="2">
              <a:lnSpc>
                <a:spcPct val="110000"/>
              </a:lnSpc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Loans and Debt Management:</a:t>
            </a:r>
            <a:endParaRPr lang="en-US"/>
          </a:p>
          <a:p>
            <a:pPr lvl="2">
              <a:lnSpc>
                <a:spcPct val="110000"/>
              </a:lnSpc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Conventional bank loan reduced from $2,000,000 in Q4 to $500,000 in Q6</a:t>
            </a:r>
          </a:p>
          <a:p>
            <a:pPr marL="502920" lvl="2" indent="0">
              <a:lnSpc>
                <a:spcPct val="110000"/>
              </a:lnSpc>
              <a:buNone/>
            </a:pPr>
            <a:endParaRPr lang="en-US">
              <a:ea typeface="+mn-lt"/>
              <a:cs typeface="+mn-lt"/>
            </a:endParaRP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400">
                <a:ea typeface="+mn-lt"/>
                <a:cs typeface="+mn-lt"/>
              </a:rPr>
              <a:t>Equity:</a:t>
            </a:r>
            <a:endParaRPr lang="en-US" sz="1400"/>
          </a:p>
          <a:p>
            <a:pPr lvl="2">
              <a:lnSpc>
                <a:spcPct val="110000"/>
              </a:lnSpc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Retained earnings shifted from -$2,933,678 in Q4 to $787,759 by Q6</a:t>
            </a:r>
          </a:p>
          <a:p>
            <a:pPr>
              <a:lnSpc>
                <a:spcPct val="110000"/>
              </a:lnSpc>
              <a:buFont typeface="Arial,Sans-Serif" panose="020B0604020202020204" pitchFamily="34" charset="0"/>
            </a:pPr>
            <a:endParaRPr lang="en-US"/>
          </a:p>
          <a:p>
            <a:pPr>
              <a:lnSpc>
                <a:spcPct val="110000"/>
              </a:lnSpc>
            </a:pPr>
            <a:endParaRPr lang="en-US"/>
          </a:p>
        </p:txBody>
      </p:sp>
      <p:pic>
        <p:nvPicPr>
          <p:cNvPr id="8" name="Graphic 7" descr="Bitcoin">
            <a:extLst>
              <a:ext uri="{FF2B5EF4-FFF2-40B4-BE49-F238E27FC236}">
                <a16:creationId xmlns:a16="http://schemas.microsoft.com/office/drawing/2014/main" id="{B4F62310-2522-13D2-FBD0-E87A953A6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5302" y="2819401"/>
            <a:ext cx="3276598" cy="32765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60BB2-9DFF-440B-3F5C-11661BE4C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637F8FC-4B86-4690-8888-22AB2F781BE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5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985DA6E-9744-43B5-B516-200B586EE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F494AD-371C-4987-843F-FA145E5B1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0553700" cy="1371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5086AD-559D-2ADE-1DAE-257910442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964" y="381000"/>
            <a:ext cx="8870770" cy="685799"/>
          </a:xfrm>
        </p:spPr>
        <p:txBody>
          <a:bodyPr>
            <a:normAutofit/>
          </a:bodyPr>
          <a:lstStyle/>
          <a:p>
            <a:r>
              <a:rPr lang="en-US" sz="2200"/>
              <a:t>Explanation of Critical Decisions and their Financial Outcomes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E3D9F-EF4E-EE61-BB9F-ECB3AA66E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637F8FC-4B86-4690-8888-22AB2F781BEF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64B1E3-2143-98F6-1B73-8D2EE6836B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3977371"/>
              </p:ext>
            </p:extLst>
          </p:nvPr>
        </p:nvGraphicFramePr>
        <p:xfrm>
          <a:off x="1223963" y="2748241"/>
          <a:ext cx="9758362" cy="3457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3022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985DA6E-9744-43B5-B516-200B586EE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F494AD-371C-4987-843F-FA145E5B1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0553700" cy="1371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EDBE91-04A4-EB0C-4C98-02B65160F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964" y="381000"/>
            <a:ext cx="8870770" cy="685799"/>
          </a:xfrm>
        </p:spPr>
        <p:txBody>
          <a:bodyPr>
            <a:normAutofit/>
          </a:bodyPr>
          <a:lstStyle/>
          <a:p>
            <a:r>
              <a:rPr lang="en-US" sz="2200"/>
              <a:t>Explanation of Critical Decisions and their Financial Outcomes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48130-2357-B61A-CD35-7FBBE52E1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637F8FC-4B86-4690-8888-22AB2F781BEF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7356F5C6-E886-2407-5B75-525CA15753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0124361"/>
              </p:ext>
            </p:extLst>
          </p:nvPr>
        </p:nvGraphicFramePr>
        <p:xfrm>
          <a:off x="1223963" y="2748241"/>
          <a:ext cx="9758362" cy="3457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6276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DBE91-04A4-EB0C-4C98-02B65160F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964" y="381000"/>
            <a:ext cx="8870770" cy="685799"/>
          </a:xfrm>
        </p:spPr>
        <p:txBody>
          <a:bodyPr>
            <a:normAutofit/>
          </a:bodyPr>
          <a:lstStyle/>
          <a:p>
            <a:r>
              <a:rPr lang="en-US" sz="2200"/>
              <a:t>Explanation of Critical Decisions and their Financial Outcomes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48130-2357-B61A-CD35-7FBBE52E1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637F8FC-4B86-4690-8888-22AB2F781BEF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7356F5C6-E886-2407-5B75-525CA15753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9033449"/>
              </p:ext>
            </p:extLst>
          </p:nvPr>
        </p:nvGraphicFramePr>
        <p:xfrm>
          <a:off x="1223963" y="2748241"/>
          <a:ext cx="9758362" cy="3457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2980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68CC6-81F3-FC6A-8E26-60E2E2296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Best Products and Ads from Q4-Q6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10B42-F4A8-A509-43D2-6D19A441F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/>
              <a:t>Overview of Changes- </a:t>
            </a:r>
            <a:r>
              <a:rPr lang="en-US"/>
              <a:t>Significant improvements to brands and ads from Q4 to Q6 resulted in increased revenue</a:t>
            </a:r>
          </a:p>
          <a:p>
            <a:pPr marL="0" indent="0">
              <a:buNone/>
            </a:pPr>
            <a:r>
              <a:rPr lang="en-US" sz="1500" b="1"/>
              <a:t>      Q4 Highlights</a:t>
            </a:r>
          </a:p>
          <a:p>
            <a:pPr lvl="1"/>
            <a:r>
              <a:rPr lang="en-US"/>
              <a:t>Our best-selling product was the Blaze Rush Pro (Units sold:463)</a:t>
            </a:r>
          </a:p>
          <a:p>
            <a:pPr lvl="1"/>
            <a:r>
              <a:rPr lang="en-US" b="1"/>
              <a:t>Cost of Goods Sold-</a:t>
            </a:r>
            <a:r>
              <a:rPr lang="en-US"/>
              <a:t>$231,388</a:t>
            </a:r>
          </a:p>
          <a:p>
            <a:pPr lvl="1"/>
            <a:r>
              <a:rPr lang="en-US" b="1"/>
              <a:t>Advertising- </a:t>
            </a:r>
            <a:r>
              <a:rPr lang="en-US"/>
              <a:t>Minimal, focused on recreation and mountain bike products</a:t>
            </a:r>
          </a:p>
          <a:p>
            <a:pPr lvl="1"/>
            <a:r>
              <a:rPr lang="en-US" b="1"/>
              <a:t>Market-</a:t>
            </a:r>
            <a:r>
              <a:rPr lang="en-US"/>
              <a:t>Top 3 in New York, Rio De Janeiro and Amsterdam</a:t>
            </a:r>
          </a:p>
          <a:p>
            <a:pPr lvl="1"/>
            <a:r>
              <a:rPr lang="en-US" b="1"/>
              <a:t>Market-</a:t>
            </a:r>
            <a:r>
              <a:rPr lang="en-US"/>
              <a:t>Strong demand in New York(426 units)</a:t>
            </a:r>
          </a:p>
          <a:p>
            <a:pPr marL="274320" lvl="1" indent="0">
              <a:buNone/>
            </a:pPr>
            <a:r>
              <a:rPr lang="en-US" b="1"/>
              <a:t>Q5 Changes</a:t>
            </a:r>
          </a:p>
          <a:p>
            <a:pPr lvl="1"/>
            <a:r>
              <a:rPr lang="en-US"/>
              <a:t>New Bikes introduced</a:t>
            </a:r>
          </a:p>
          <a:p>
            <a:pPr lvl="1"/>
            <a:r>
              <a:rPr lang="en-US" b="1"/>
              <a:t>Advertising Impact-A</a:t>
            </a:r>
            <a:r>
              <a:rPr lang="en-US"/>
              <a:t>d for Cliff Chaser boosted awareness and sales. Ad ranked 3</a:t>
            </a:r>
            <a:r>
              <a:rPr lang="en-US" baseline="30000"/>
              <a:t>rd</a:t>
            </a:r>
            <a:r>
              <a:rPr lang="en-US"/>
              <a:t> among top mountain bike ads</a:t>
            </a:r>
          </a:p>
          <a:p>
            <a:pPr lvl="1"/>
            <a:r>
              <a:rPr lang="en-US" b="1"/>
              <a:t>Market Demand-</a:t>
            </a:r>
            <a:r>
              <a:rPr lang="en-US"/>
              <a:t>New York City led demand with 500 units each for top mountain bikes</a:t>
            </a:r>
          </a:p>
          <a:p>
            <a:pPr marL="274320" lvl="1" indent="0">
              <a:buNone/>
            </a:pPr>
            <a:r>
              <a:rPr lang="en-US" b="1"/>
              <a:t>Q6 Trends</a:t>
            </a:r>
          </a:p>
          <a:p>
            <a:pPr lvl="1"/>
            <a:r>
              <a:rPr lang="en-US" b="1"/>
              <a:t>Leading Product-</a:t>
            </a:r>
            <a:r>
              <a:rPr lang="en-US"/>
              <a:t>Xtreme Altitude</a:t>
            </a:r>
          </a:p>
          <a:p>
            <a:pPr lvl="1"/>
            <a:r>
              <a:rPr lang="en-US" b="1"/>
              <a:t>Gross Margin-</a:t>
            </a:r>
            <a:r>
              <a:rPr lang="en-US"/>
              <a:t>Blaze Rush Pro 3 generated $1,167,800 in gross margin </a:t>
            </a:r>
          </a:p>
          <a:p>
            <a:pPr marL="502920" lvl="2" indent="0">
              <a:buNone/>
            </a:pPr>
            <a:r>
              <a:rPr lang="en-US"/>
              <a:t> </a:t>
            </a:r>
          </a:p>
          <a:p>
            <a:pPr lvl="2"/>
            <a:endParaRPr lang="en-US"/>
          </a:p>
          <a:p>
            <a:pPr lvl="1"/>
            <a:endParaRPr lang="en-US" b="1"/>
          </a:p>
          <a:p>
            <a:pPr lvl="2"/>
            <a:endParaRPr lang="en-US"/>
          </a:p>
          <a:p>
            <a:pPr marL="274320" lvl="1" indent="0">
              <a:buNone/>
            </a:pPr>
            <a:endParaRPr lang="en-US" b="1"/>
          </a:p>
          <a:p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0A3EF-FEA1-6395-FC19-CF5C05A6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79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67669C8-6167-4A30-AD4E-0215E6483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2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0265E0-7389-441B-AD2F-9304B3D50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38300" y="2057400"/>
            <a:ext cx="10553700" cy="480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9404B2-380B-FD28-4603-A7E927042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352" y="499921"/>
            <a:ext cx="9410449" cy="1057559"/>
          </a:xfrm>
        </p:spPr>
        <p:txBody>
          <a:bodyPr>
            <a:normAutofit/>
          </a:bodyPr>
          <a:lstStyle/>
          <a:p>
            <a:r>
              <a:rPr lang="en-US"/>
              <a:t>Strategy For Q7 and Beyond Table of Contents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D5BC9-789C-7B34-082F-0DFF27CA8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637F8FC-4B86-4690-8888-22AB2F781BEF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7DDC0FE-1DBE-D7B3-2759-974571D6A5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9855475"/>
              </p:ext>
            </p:extLst>
          </p:nvPr>
        </p:nvGraphicFramePr>
        <p:xfrm>
          <a:off x="2438400" y="2743201"/>
          <a:ext cx="8953500" cy="34512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9262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67669C8-6167-4A30-AD4E-0215E6483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2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0265E0-7389-441B-AD2F-9304B3D50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38300" y="2057400"/>
            <a:ext cx="10553700" cy="480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E26104-8C48-FB06-EBC6-7651C417F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352" y="499921"/>
            <a:ext cx="9410449" cy="1057559"/>
          </a:xfrm>
        </p:spPr>
        <p:txBody>
          <a:bodyPr>
            <a:normAutofit/>
          </a:bodyPr>
          <a:lstStyle/>
          <a:p>
            <a:r>
              <a:rPr lang="en-US"/>
              <a:t>Product Line Enhancement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4AB52-86A3-AABC-04E1-124503646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637F8FC-4B86-4690-8888-22AB2F781BEF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DA6BA98-33DC-192C-4E14-29ABB059DA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0620750"/>
              </p:ext>
            </p:extLst>
          </p:nvPr>
        </p:nvGraphicFramePr>
        <p:xfrm>
          <a:off x="2438400" y="2743201"/>
          <a:ext cx="8953500" cy="34512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6436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67669C8-6167-4A30-AD4E-0215E6483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2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0265E0-7389-441B-AD2F-9304B3D50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38300" y="2057400"/>
            <a:ext cx="10553700" cy="480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620C2F-D93C-043B-213B-CAE5B9DC9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352" y="499921"/>
            <a:ext cx="9410449" cy="1057559"/>
          </a:xfrm>
        </p:spPr>
        <p:txBody>
          <a:bodyPr>
            <a:normAutofit/>
          </a:bodyPr>
          <a:lstStyle/>
          <a:p>
            <a:r>
              <a:rPr lang="en-US"/>
              <a:t>Expansions Plans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03252-449F-7133-E006-70140D62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637F8FC-4B86-4690-8888-22AB2F781BEF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7ABF7AC-EF9D-82B1-13F6-7389AC55AC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7069383"/>
              </p:ext>
            </p:extLst>
          </p:nvPr>
        </p:nvGraphicFramePr>
        <p:xfrm>
          <a:off x="2438400" y="2743201"/>
          <a:ext cx="8953500" cy="34512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1873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5B4416B-38BB-4877-A487-E9DD15F7B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C3AB18-3A6A-4986-BACC-5F6761D84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76701" cy="2052084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40DABC-DFC5-8F78-CD64-825450A89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2" y="360901"/>
            <a:ext cx="2869298" cy="1349565"/>
          </a:xfrm>
        </p:spPr>
        <p:txBody>
          <a:bodyPr anchor="ctr">
            <a:normAutofit/>
          </a:bodyPr>
          <a:lstStyle/>
          <a:p>
            <a:r>
              <a:rPr lang="en-US" sz="2400"/>
              <a:t>Market Growth and Retail Partnerships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15CF9-0C90-809F-C45B-7424C687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637F8FC-4B86-4690-8888-22AB2F781BEF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F8284F82-6F93-F667-A507-A7886672D4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7961949"/>
              </p:ext>
            </p:extLst>
          </p:nvPr>
        </p:nvGraphicFramePr>
        <p:xfrm>
          <a:off x="5303519" y="723900"/>
          <a:ext cx="5893117" cy="54482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9432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C426711-1D48-4471-A750-0C8F4193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914DDC-D2A9-4C86-B057-CDBB8F174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676" y="1"/>
            <a:ext cx="12196676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9C7114-BEDD-41AE-8645-0502136A6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38300" y="2057400"/>
            <a:ext cx="10558376" cy="480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E65689-24D0-8007-0AB3-79F1CE542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499" y="488619"/>
            <a:ext cx="9841658" cy="1075123"/>
          </a:xfrm>
        </p:spPr>
        <p:txBody>
          <a:bodyPr>
            <a:normAutofit/>
          </a:bodyPr>
          <a:lstStyle/>
          <a:p>
            <a:r>
              <a:rPr lang="en-US"/>
              <a:t>Lessons Learned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E7D6EE8-DD7F-0761-5D2B-0DA173D78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1" y="2743199"/>
            <a:ext cx="4876800" cy="35335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 b="1"/>
              <a:t>Team Communication- </a:t>
            </a:r>
            <a:r>
              <a:rPr lang="en-US" sz="1400"/>
              <a:t>Importance of timely communication and collaboration</a:t>
            </a:r>
          </a:p>
          <a:p>
            <a:pPr>
              <a:lnSpc>
                <a:spcPct val="110000"/>
              </a:lnSpc>
            </a:pPr>
            <a:r>
              <a:rPr lang="en-US" sz="1400" b="1"/>
              <a:t>Accountability and Division of Work-</a:t>
            </a:r>
            <a:r>
              <a:rPr lang="en-US" sz="1400"/>
              <a:t>Dividing work, understanding of deadlines</a:t>
            </a:r>
          </a:p>
          <a:p>
            <a:pPr>
              <a:lnSpc>
                <a:spcPct val="110000"/>
              </a:lnSpc>
            </a:pPr>
            <a:r>
              <a:rPr lang="en-US" sz="1400" b="1"/>
              <a:t>Honesty and Support-</a:t>
            </a:r>
            <a:r>
              <a:rPr lang="en-US" sz="1400"/>
              <a:t>Fostering a positive team environment</a:t>
            </a:r>
          </a:p>
          <a:p>
            <a:pPr>
              <a:lnSpc>
                <a:spcPct val="110000"/>
              </a:lnSpc>
            </a:pPr>
            <a:r>
              <a:rPr lang="en-US" sz="1400" b="1"/>
              <a:t>Time Management-</a:t>
            </a:r>
            <a:r>
              <a:rPr lang="en-US" sz="1400"/>
              <a:t>Maintained a timeline and tracked tasks and progress</a:t>
            </a:r>
          </a:p>
          <a:p>
            <a:pPr>
              <a:lnSpc>
                <a:spcPct val="110000"/>
              </a:lnSpc>
            </a:pPr>
            <a:r>
              <a:rPr lang="en-US" sz="1400" b="1"/>
              <a:t>Complexity of Decision Making-</a:t>
            </a:r>
            <a:r>
              <a:rPr lang="en-US" sz="1400"/>
              <a:t>Confusion with understanding of the decision making process</a:t>
            </a:r>
          </a:p>
          <a:p>
            <a:pPr>
              <a:lnSpc>
                <a:spcPct val="110000"/>
              </a:lnSpc>
            </a:pPr>
            <a:r>
              <a:rPr lang="en-US" sz="1400" b="1"/>
              <a:t>Mission and Market Strategy-</a:t>
            </a:r>
            <a:r>
              <a:rPr lang="en-US" sz="1400"/>
              <a:t>Fear of debt, ethical and environmental commitments were compromised</a:t>
            </a:r>
          </a:p>
        </p:txBody>
      </p:sp>
      <p:pic>
        <p:nvPicPr>
          <p:cNvPr id="25" name="Graphic 24" descr="Users">
            <a:extLst>
              <a:ext uri="{FF2B5EF4-FFF2-40B4-BE49-F238E27FC236}">
                <a16:creationId xmlns:a16="http://schemas.microsoft.com/office/drawing/2014/main" id="{6567F6D6-7B53-8ADD-1A44-E6ADB43DC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5302" y="2819401"/>
            <a:ext cx="3276598" cy="32765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BD879-45CD-A32C-DEAE-DE1ED39A5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637F8FC-4B86-4690-8888-22AB2F781BEF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000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B4416B-38BB-4877-A487-E9DD15F7B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C3AB18-3A6A-4986-BACC-5F6761D84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76701" cy="2052084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904523-7AF3-73B4-A09E-68D78AB31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2" y="360901"/>
            <a:ext cx="2869298" cy="1349565"/>
          </a:xfrm>
        </p:spPr>
        <p:txBody>
          <a:bodyPr anchor="ctr">
            <a:normAutofit/>
          </a:bodyPr>
          <a:lstStyle/>
          <a:p>
            <a:r>
              <a:rPr lang="en-US" sz="2400"/>
              <a:t>Lessons Learned-Future Strategy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C1213-C80D-7376-102F-EF413EC25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877" y="6319138"/>
            <a:ext cx="71064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637F8FC-4B86-4690-8888-22AB2F781BEF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01D736F-AC98-7BC8-4E21-4E20B9A945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8152384"/>
              </p:ext>
            </p:extLst>
          </p:nvPr>
        </p:nvGraphicFramePr>
        <p:xfrm>
          <a:off x="5303519" y="723900"/>
          <a:ext cx="5893117" cy="54482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8846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6CA11C-932F-8105-6AB7-7FC6FBE227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9297330"/>
              </p:ext>
            </p:extLst>
          </p:nvPr>
        </p:nvGraphicFramePr>
        <p:xfrm>
          <a:off x="3154716" y="268744"/>
          <a:ext cx="6229128" cy="6320512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576449">
                  <a:extLst>
                    <a:ext uri="{9D8B030D-6E8A-4147-A177-3AD203B41FA5}">
                      <a16:colId xmlns:a16="http://schemas.microsoft.com/office/drawing/2014/main" val="646092736"/>
                    </a:ext>
                  </a:extLst>
                </a:gridCol>
                <a:gridCol w="918139">
                  <a:extLst>
                    <a:ext uri="{9D8B030D-6E8A-4147-A177-3AD203B41FA5}">
                      <a16:colId xmlns:a16="http://schemas.microsoft.com/office/drawing/2014/main" val="2306885521"/>
                    </a:ext>
                  </a:extLst>
                </a:gridCol>
                <a:gridCol w="867270">
                  <a:extLst>
                    <a:ext uri="{9D8B030D-6E8A-4147-A177-3AD203B41FA5}">
                      <a16:colId xmlns:a16="http://schemas.microsoft.com/office/drawing/2014/main" val="1586362622"/>
                    </a:ext>
                  </a:extLst>
                </a:gridCol>
                <a:gridCol w="867270">
                  <a:extLst>
                    <a:ext uri="{9D8B030D-6E8A-4147-A177-3AD203B41FA5}">
                      <a16:colId xmlns:a16="http://schemas.microsoft.com/office/drawing/2014/main" val="1799173078"/>
                    </a:ext>
                  </a:extLst>
                </a:gridCol>
              </a:tblGrid>
              <a:tr h="17865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600" b="0">
                          <a:effectLst/>
                        </a:rPr>
                        <a:t> </a:t>
                      </a:r>
                      <a:endParaRPr lang="en-US" sz="600" b="0" i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5C5C5C"/>
                          </a:solidFill>
                          <a:effectLst/>
                          <a:latin typeface="+mj-lt"/>
                        </a:rPr>
                        <a:t>Quarter 4 </a:t>
                      </a:r>
                      <a:endParaRPr lang="en-US" sz="800" b="1" i="0">
                        <a:effectLst/>
                        <a:latin typeface="+mj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5C5C5C"/>
                          </a:solidFill>
                          <a:effectLst/>
                          <a:latin typeface="+mj-lt"/>
                        </a:rPr>
                        <a:t>Quarter 5 </a:t>
                      </a:r>
                      <a:endParaRPr lang="en-US" sz="800" b="1" i="0">
                        <a:effectLst/>
                        <a:latin typeface="+mj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5C5C5C"/>
                          </a:solidFill>
                          <a:effectLst/>
                          <a:latin typeface="+mj-lt"/>
                        </a:rPr>
                        <a:t>Quarter 6 </a:t>
                      </a:r>
                      <a:endParaRPr lang="en-US" sz="800" b="1" i="0">
                        <a:effectLst/>
                        <a:latin typeface="+mj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239354"/>
                  </a:ext>
                </a:extLst>
              </a:tr>
              <a:tr h="15222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5C5C5C"/>
                          </a:solidFill>
                          <a:effectLst/>
                          <a:latin typeface="+mn-lt"/>
                        </a:rPr>
                        <a:t>Gross Profit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5C5C5C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solidFill>
                          <a:srgbClr val="5C5C5C"/>
                        </a:solidFill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605588"/>
                  </a:ext>
                </a:extLst>
              </a:tr>
              <a:tr h="17865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Revenues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1,658,250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3,953,950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8,481,650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182236"/>
                  </a:ext>
                </a:extLst>
              </a:tr>
              <a:tr h="15222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Rebates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48,950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111,550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242,575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85177"/>
                  </a:ext>
                </a:extLst>
              </a:tr>
              <a:tr h="17865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Cost of Goods Sold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527,521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1,427,635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2,996,727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176088"/>
                  </a:ext>
                </a:extLst>
              </a:tr>
              <a:tr h="17865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= Gross Profit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1,081,779 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2,414,765 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5,242,348 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65306"/>
                  </a:ext>
                </a:extLst>
              </a:tr>
              <a:tr h="15222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5C5C5C"/>
                          </a:solidFill>
                          <a:effectLst/>
                          <a:latin typeface="+mn-lt"/>
                        </a:rPr>
                        <a:t>Expenses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383898"/>
                  </a:ext>
                </a:extLst>
              </a:tr>
              <a:tr h="17865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Research and Development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2,150,863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886,794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90,000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272462"/>
                  </a:ext>
                </a:extLst>
              </a:tr>
              <a:tr h="15222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Quality Costs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60,421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78,715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131,118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047502"/>
                  </a:ext>
                </a:extLst>
              </a:tr>
              <a:tr h="15222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System Improvement Costs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580,775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482,525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162,571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080732"/>
                  </a:ext>
                </a:extLst>
              </a:tr>
              <a:tr h="15222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Advertising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86,781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164,315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180,676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53318"/>
                  </a:ext>
                </a:extLst>
              </a:tr>
              <a:tr h="15222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Internet Marketing Expenses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14,117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35,856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52,900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143696"/>
                  </a:ext>
                </a:extLst>
              </a:tr>
              <a:tr h="15222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Sales Force Expense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154,166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233,744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291,049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72735"/>
                  </a:ext>
                </a:extLst>
              </a:tr>
              <a:tr h="15222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Store Expense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207,000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136,000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136,000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591922"/>
                  </a:ext>
                </a:extLst>
              </a:tr>
              <a:tr h="15222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Marketing Research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15,000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15,000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15,000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019009"/>
                  </a:ext>
                </a:extLst>
              </a:tr>
              <a:tr h="15222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Shipping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17,401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34,362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66,329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950606"/>
                  </a:ext>
                </a:extLst>
              </a:tr>
              <a:tr h="15222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Excess Capacity Cost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745430"/>
                  </a:ext>
                </a:extLst>
              </a:tr>
              <a:tr h="15222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Depreciation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50,000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50,000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100,000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936204"/>
                  </a:ext>
                </a:extLst>
              </a:tr>
              <a:tr h="17865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= Total Expenses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3,336,525 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2,117,311 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1,225,643 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336076"/>
                  </a:ext>
                </a:extLst>
              </a:tr>
              <a:tr h="24826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Operating Profit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-2,254,745 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297,454 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4,016,705 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892494"/>
                  </a:ext>
                </a:extLst>
              </a:tr>
              <a:tr h="15222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5C5C5C"/>
                          </a:solidFill>
                          <a:effectLst/>
                          <a:latin typeface="+mn-lt"/>
                        </a:rPr>
                        <a:t>Miscellaneous Income and Expenses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782685"/>
                  </a:ext>
                </a:extLst>
              </a:tr>
              <a:tr h="15222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Licensing Income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034696"/>
                  </a:ext>
                </a:extLst>
              </a:tr>
              <a:tr h="15222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Licensing Fees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272828"/>
                  </a:ext>
                </a:extLst>
              </a:tr>
              <a:tr h="15222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Other Income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191306"/>
                  </a:ext>
                </a:extLst>
              </a:tr>
              <a:tr h="15222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Other Expenses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053870"/>
                  </a:ext>
                </a:extLst>
              </a:tr>
              <a:tr h="24826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= Earnings Before Interest and Taxes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-2,254,745 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297,454 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4,016,705 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558447"/>
                  </a:ext>
                </a:extLst>
              </a:tr>
              <a:tr h="15222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Interest Income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41958"/>
                  </a:ext>
                </a:extLst>
              </a:tr>
              <a:tr h="15222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Interest Charges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63,303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56,250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11,299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400290"/>
                  </a:ext>
                </a:extLst>
              </a:tr>
              <a:tr h="24826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= Income Before Taxes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-2,318,048 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241,204 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4,005,406 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885953"/>
                  </a:ext>
                </a:extLst>
              </a:tr>
              <a:tr h="17865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Loss Carry Forward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241,204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2,692,474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58371"/>
                  </a:ext>
                </a:extLst>
              </a:tr>
              <a:tr h="17865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= Taxable Income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1,312,932 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220840"/>
                  </a:ext>
                </a:extLst>
              </a:tr>
              <a:tr h="15222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Income Taxes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525,173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784150"/>
                  </a:ext>
                </a:extLst>
              </a:tr>
              <a:tr h="24826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= Net Income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-2,318,048 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241,204 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3,480,233 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440984"/>
                  </a:ext>
                </a:extLst>
              </a:tr>
              <a:tr h="15222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Earnings per Share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-46 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70 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marL="55274" marR="55274" marT="27636" marB="2763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31539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F6EF849-E2AE-8EF7-53F7-26754D030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045" y="51294"/>
            <a:ext cx="1792157" cy="8617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 </a:t>
            </a:r>
            <a:endParaRPr kumimoji="0" lang="en-US" altLang="en-US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Appendix A. </a:t>
            </a:r>
            <a:endParaRPr kumimoji="0" lang="en-US" altLang="en-US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Q4 - Q6 Income Statement </a:t>
            </a:r>
            <a:endParaRPr kumimoji="0" lang="en-US" altLang="en-US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 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AF8298-1CFC-3B1B-41B4-8AA768FD5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993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C4B646-3201-F3C2-8762-96D4365848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410320"/>
              </p:ext>
            </p:extLst>
          </p:nvPr>
        </p:nvGraphicFramePr>
        <p:xfrm>
          <a:off x="2216765" y="296330"/>
          <a:ext cx="8148216" cy="6282148"/>
        </p:xfrm>
        <a:graphic>
          <a:graphicData uri="http://schemas.openxmlformats.org/drawingml/2006/table">
            <a:tbl>
              <a:tblPr/>
              <a:tblGrid>
                <a:gridCol w="2273800">
                  <a:extLst>
                    <a:ext uri="{9D8B030D-6E8A-4147-A177-3AD203B41FA5}">
                      <a16:colId xmlns:a16="http://schemas.microsoft.com/office/drawing/2014/main" val="4065236842"/>
                    </a:ext>
                  </a:extLst>
                </a:gridCol>
                <a:gridCol w="2166792">
                  <a:extLst>
                    <a:ext uri="{9D8B030D-6E8A-4147-A177-3AD203B41FA5}">
                      <a16:colId xmlns:a16="http://schemas.microsoft.com/office/drawing/2014/main" val="2071137528"/>
                    </a:ext>
                  </a:extLst>
                </a:gridCol>
                <a:gridCol w="1829739">
                  <a:extLst>
                    <a:ext uri="{9D8B030D-6E8A-4147-A177-3AD203B41FA5}">
                      <a16:colId xmlns:a16="http://schemas.microsoft.com/office/drawing/2014/main" val="3679859838"/>
                    </a:ext>
                  </a:extLst>
                </a:gridCol>
                <a:gridCol w="1877885">
                  <a:extLst>
                    <a:ext uri="{9D8B030D-6E8A-4147-A177-3AD203B41FA5}">
                      <a16:colId xmlns:a16="http://schemas.microsoft.com/office/drawing/2014/main" val="1453547883"/>
                    </a:ext>
                  </a:extLst>
                </a:gridCol>
              </a:tblGrid>
              <a:tr h="23671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5C5C5C"/>
                          </a:solidFill>
                          <a:effectLst/>
                          <a:latin typeface="Times New Roman" panose="02020603050405020304" pitchFamily="18" charset="0"/>
                        </a:rPr>
                        <a:t>Quarter 4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5C5C5C"/>
                          </a:solidFill>
                          <a:effectLst/>
                          <a:latin typeface="Times New Roman" panose="02020603050405020304" pitchFamily="18" charset="0"/>
                        </a:rPr>
                        <a:t>Quarter 5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5C5C5C"/>
                          </a:solidFill>
                          <a:effectLst/>
                          <a:latin typeface="Times New Roman" panose="02020603050405020304" pitchFamily="18" charset="0"/>
                        </a:rPr>
                        <a:t>Quarter 6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203580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Beginning Cash Balance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624,370 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2,956,322 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1,547,526 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076668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5C5C5C"/>
                          </a:solidFill>
                          <a:effectLst/>
                          <a:latin typeface="Times New Roman" panose="02020603050405020304" pitchFamily="18" charset="0"/>
                        </a:rPr>
                        <a:t>Receipts and Disbursements from Operating Activities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5C5C5C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00937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Revenues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1,658,250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3,953,950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8,481,650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509175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Rebates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48,950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111,550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242,575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75535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Production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527,521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1,427,635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2,996,727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884146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Research and Development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2,150,863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886,794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90,000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239713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Quality Costs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60,421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78,715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131,118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224935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System Improvement Costs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580,775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482,525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162,571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389042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Advertising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86,781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164,315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180,676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373750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Internet Marketing Expenses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14,117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35,856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52,900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00245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Sales Force Expense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154,166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233,744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291,049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745176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Store Expense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207,000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136,000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136,000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401703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Marketing Research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15,000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15,000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15,000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626191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Shipping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17,401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34,362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66,329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434277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Excess Capacity Cost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50225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Income Taxes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525,173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962120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+ Interest Income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376049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Interest Charges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63,303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56,250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11,299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282137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+ Licensing Income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551682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Licensing Fees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213113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+ Other Income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279785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Other Expenses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048600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= Net Operating Cash Flow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-2,268,048 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291,204 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3,580,233 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076272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5C5C5C"/>
                          </a:solidFill>
                          <a:effectLst/>
                          <a:latin typeface="Times New Roman" panose="02020603050405020304" pitchFamily="18" charset="0"/>
                        </a:rPr>
                        <a:t>Investing Activities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2264144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Fixed Production Capacity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1,200,000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46285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= Total Investing Activities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1,200,000 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538230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5C5C5C"/>
                          </a:solidFill>
                          <a:effectLst/>
                          <a:latin typeface="Times New Roman" panose="02020603050405020304" pitchFamily="18" charset="0"/>
                        </a:rPr>
                        <a:t>Financing Activities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338904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Increase in Common Stock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2,500,000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434464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+ Borrow Conventional Loan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2,000,000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395177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Repay Conventional Loan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500,000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1,000,000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430059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+ Borrow Emergency Loan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762011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Repay Emergency Loan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132582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 Deposit 3 Month Certificate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83379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+ Withdraw 3 Month Certificate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100,000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800" b="1" i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308533"/>
                  </a:ext>
                </a:extLst>
              </a:tr>
              <a:tr h="236714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= Total Financing Activities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4,600,000 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-500,000 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-1,000,000 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747168"/>
                  </a:ext>
                </a:extLst>
              </a:tr>
              <a:tr h="145671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Cash Balance, End of Period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2,956,322 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1,547,526 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4,127,759 </a:t>
                      </a:r>
                      <a:endParaRPr lang="en-US" sz="800" b="1" i="0">
                        <a:effectLst/>
                      </a:endParaRPr>
                    </a:p>
                  </a:txBody>
                  <a:tcPr marL="40559" marR="40559" marT="20280" marB="2028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94632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A789C3C-1AD3-690A-FFE8-27960B5FC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477" y="232461"/>
            <a:ext cx="1453243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Appendix B. </a:t>
            </a:r>
            <a:endParaRPr kumimoji="0" lang="en-US" altLang="en-US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Q4 – Q6 Cash Flows </a:t>
            </a:r>
            <a:endParaRPr kumimoji="0" lang="en-US" altLang="en-US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2C24B-E65C-7239-6F02-B89A70F2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006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AC8935F-0218-70C8-B0A2-1C34E4AF2F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1054531"/>
              </p:ext>
            </p:extLst>
          </p:nvPr>
        </p:nvGraphicFramePr>
        <p:xfrm>
          <a:off x="2670840" y="873695"/>
          <a:ext cx="7151585" cy="5110609"/>
        </p:xfrm>
        <a:graphic>
          <a:graphicData uri="http://schemas.openxmlformats.org/drawingml/2006/table">
            <a:tbl>
              <a:tblPr/>
              <a:tblGrid>
                <a:gridCol w="3582656">
                  <a:extLst>
                    <a:ext uri="{9D8B030D-6E8A-4147-A177-3AD203B41FA5}">
                      <a16:colId xmlns:a16="http://schemas.microsoft.com/office/drawing/2014/main" val="2986753281"/>
                    </a:ext>
                  </a:extLst>
                </a:gridCol>
                <a:gridCol w="1235399">
                  <a:extLst>
                    <a:ext uri="{9D8B030D-6E8A-4147-A177-3AD203B41FA5}">
                      <a16:colId xmlns:a16="http://schemas.microsoft.com/office/drawing/2014/main" val="4026150"/>
                    </a:ext>
                  </a:extLst>
                </a:gridCol>
                <a:gridCol w="1166765">
                  <a:extLst>
                    <a:ext uri="{9D8B030D-6E8A-4147-A177-3AD203B41FA5}">
                      <a16:colId xmlns:a16="http://schemas.microsoft.com/office/drawing/2014/main" val="951967327"/>
                    </a:ext>
                  </a:extLst>
                </a:gridCol>
                <a:gridCol w="1166765">
                  <a:extLst>
                    <a:ext uri="{9D8B030D-6E8A-4147-A177-3AD203B41FA5}">
                      <a16:colId xmlns:a16="http://schemas.microsoft.com/office/drawing/2014/main" val="3907415403"/>
                    </a:ext>
                  </a:extLst>
                </a:gridCol>
              </a:tblGrid>
              <a:tr h="40704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5C5C5C"/>
                          </a:solidFill>
                          <a:effectLst/>
                          <a:latin typeface="+mj-lt"/>
                        </a:rPr>
                        <a:t>Quarter 4 </a:t>
                      </a:r>
                      <a:endParaRPr lang="en-US" sz="800" b="1" i="0">
                        <a:effectLst/>
                        <a:latin typeface="+mj-lt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5C5C5C"/>
                          </a:solidFill>
                          <a:effectLst/>
                          <a:latin typeface="+mj-lt"/>
                        </a:rPr>
                        <a:t>Quarter 5 </a:t>
                      </a:r>
                      <a:endParaRPr lang="en-US" sz="800" b="1" i="0">
                        <a:effectLst/>
                        <a:latin typeface="+mj-lt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5C5C5C"/>
                          </a:solidFill>
                          <a:effectLst/>
                          <a:latin typeface="+mj-lt"/>
                        </a:rPr>
                        <a:t>Quarter 6 </a:t>
                      </a:r>
                      <a:endParaRPr lang="en-US" sz="800" b="1" i="0">
                        <a:effectLst/>
                        <a:latin typeface="+mj-lt"/>
                      </a:endParaRPr>
                    </a:p>
                  </a:txBody>
                  <a:tcPr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733334"/>
                  </a:ext>
                </a:extLst>
              </a:tr>
              <a:tr h="361813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5C5C5C"/>
                          </a:solidFill>
                          <a:effectLst/>
                          <a:latin typeface="+mn-lt"/>
                        </a:rPr>
                        <a:t>Current Assets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5C5C5C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536438"/>
                  </a:ext>
                </a:extLst>
              </a:tr>
              <a:tr h="361813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Cash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2,956,322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1,547,526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4,127,759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530583"/>
                  </a:ext>
                </a:extLst>
              </a:tr>
              <a:tr h="361813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+ 3 Month Certificate of Deposit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200620"/>
                  </a:ext>
                </a:extLst>
              </a:tr>
              <a:tr h="361813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5C5C5C"/>
                          </a:solidFill>
                          <a:effectLst/>
                          <a:latin typeface="+mn-lt"/>
                        </a:rPr>
                        <a:t>Long Term Assets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616495"/>
                  </a:ext>
                </a:extLst>
              </a:tr>
              <a:tr h="361813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Net Fixed Assets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1,110,000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2,260,000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2,160,000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924950"/>
                  </a:ext>
                </a:extLst>
              </a:tr>
              <a:tr h="361813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= Total Assets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4,066,322 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3,807,526 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6,287,759 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344085"/>
                  </a:ext>
                </a:extLst>
              </a:tr>
              <a:tr h="361813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5C5C5C"/>
                          </a:solidFill>
                          <a:effectLst/>
                          <a:latin typeface="+mn-lt"/>
                        </a:rPr>
                        <a:t>Debt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745263"/>
                  </a:ext>
                </a:extLst>
              </a:tr>
              <a:tr h="361813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Conventional Bank Loan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2,000,000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1,500,000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500,000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189248"/>
                  </a:ext>
                </a:extLst>
              </a:tr>
              <a:tr h="361813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Emergency Loan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560284"/>
                  </a:ext>
                </a:extLst>
              </a:tr>
              <a:tr h="361813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5C5C5C"/>
                          </a:solidFill>
                          <a:effectLst/>
                          <a:latin typeface="+mn-lt"/>
                        </a:rPr>
                        <a:t>Equity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041699"/>
                  </a:ext>
                </a:extLst>
              </a:tr>
              <a:tr h="361813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Common Stock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5,000,000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5,000,000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5,000,000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290065"/>
                  </a:ext>
                </a:extLst>
              </a:tr>
              <a:tr h="361813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Retained Earnings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-2,933,678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-2,692,474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787,759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947010"/>
                  </a:ext>
                </a:extLst>
              </a:tr>
              <a:tr h="361813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= Total Debt and Equity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4,066,322 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3,807,526 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800" b="1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6,287,759 </a:t>
                      </a:r>
                      <a:endParaRPr lang="en-US" sz="800" b="1" i="0">
                        <a:effectLst/>
                        <a:latin typeface="+mn-lt"/>
                      </a:endParaRPr>
                    </a:p>
                  </a:txBody>
                  <a:tcPr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57230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47064508-5331-EAF1-920B-46B27F755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853" y="404361"/>
            <a:ext cx="1496908" cy="7078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Appendix C. </a:t>
            </a:r>
            <a:endParaRPr kumimoji="0" lang="en-US" altLang="en-US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Q4 – Q6 Balance Sheet </a:t>
            </a:r>
            <a:endParaRPr kumimoji="0" lang="en-US" altLang="en-US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2EA9460-EAFE-6C87-7762-7FFED3AC5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51425"/>
      </p:ext>
    </p:extLst>
  </p:cSld>
  <p:clrMapOvr>
    <a:masterClrMapping/>
  </p:clrMapOvr>
</p:sld>
</file>

<file path=ppt/theme/theme1.xml><?xml version="1.0" encoding="utf-8"?>
<a:theme xmlns:a="http://schemas.openxmlformats.org/drawingml/2006/main" name="EncaseVTI">
  <a:themeElements>
    <a:clrScheme name="Encase">
      <a:dk1>
        <a:sysClr val="windowText" lastClr="000000"/>
      </a:dk1>
      <a:lt1>
        <a:sysClr val="window" lastClr="FFFFFF"/>
      </a:lt1>
      <a:dk2>
        <a:srgbClr val="1E2121"/>
      </a:dk2>
      <a:lt2>
        <a:srgbClr val="EFECEB"/>
      </a:lt2>
      <a:accent1>
        <a:srgbClr val="717059"/>
      </a:accent1>
      <a:accent2>
        <a:srgbClr val="B9A17E"/>
      </a:accent2>
      <a:accent3>
        <a:srgbClr val="766752"/>
      </a:accent3>
      <a:accent4>
        <a:srgbClr val="A28578"/>
      </a:accent4>
      <a:accent5>
        <a:srgbClr val="6E736D"/>
      </a:accent5>
      <a:accent6>
        <a:srgbClr val="BE8366"/>
      </a:accent6>
      <a:hlink>
        <a:srgbClr val="B5714F"/>
      </a:hlink>
      <a:folHlink>
        <a:srgbClr val="7B6B4C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ncaseVTI" id="{C293990F-FDB3-4ED3-8175-FB79CE5A2A12}" vid="{A5662C19-271F-459F-B4ED-861A982376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{1A67E2BF-5334-FC4E-9E59-5F819BB0EC67}tf10001070</Template>
  <TotalTime>0</TotalTime>
  <Words>1615</Words>
  <Application>Microsoft Office PowerPoint</Application>
  <PresentationFormat>Widescreen</PresentationFormat>
  <Paragraphs>492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EncaseVTI</vt:lpstr>
      <vt:lpstr>Elite Carbon Cycle Annual Report </vt:lpstr>
      <vt:lpstr>Elite Carbon Cycles</vt:lpstr>
      <vt:lpstr>Overview of Business Plan</vt:lpstr>
      <vt:lpstr>Q4 -Q6 Income Statement Results</vt:lpstr>
      <vt:lpstr>Q4 -Q6 Cash Flow Results</vt:lpstr>
      <vt:lpstr>Q4 -Q6 Balance Sheet Results</vt:lpstr>
      <vt:lpstr>Explanation of Critical Decisions and their Financial Outcomes</vt:lpstr>
      <vt:lpstr>Explanation of Critical Decisions and their Financial Outcomes</vt:lpstr>
      <vt:lpstr>Explanation of Critical Decisions and their Financial Outcomes</vt:lpstr>
      <vt:lpstr>Best Products and Ads from Q4-Q6</vt:lpstr>
      <vt:lpstr>Strategy For Q7 and Beyond Table of Contents</vt:lpstr>
      <vt:lpstr>Product Line Enhancement</vt:lpstr>
      <vt:lpstr>Expansions Plans</vt:lpstr>
      <vt:lpstr>Market Growth and Retail Partnerships</vt:lpstr>
      <vt:lpstr>Lessons Learned</vt:lpstr>
      <vt:lpstr>Lessons Learned-Future Strategy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Elite Carbon Cycle Annual Report </dc:title>
  <dc:creator>Caroline Boucher</dc:creator>
  <cp:lastModifiedBy>Ariana Teel</cp:lastModifiedBy>
  <cp:revision>3</cp:revision>
  <dcterms:created xsi:type="dcterms:W3CDTF">2024-10-01T17:29:04Z</dcterms:created>
  <dcterms:modified xsi:type="dcterms:W3CDTF">2024-10-04T01:30:05Z</dcterms:modified>
</cp:coreProperties>
</file>